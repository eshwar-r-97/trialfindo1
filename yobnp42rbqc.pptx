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1112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492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3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91440" cy="9144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20240" y="548640"/>
            <a:ext cx="54864" cy="54864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1280160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0" y="822960"/>
            <a:ext cx="91440" cy="9144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247120" y="1554480"/>
            <a:ext cx="54864" cy="54864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0" y="457200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6035040"/>
            <a:ext cx="73152" cy="73152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6309360"/>
            <a:ext cx="54864" cy="54864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064240" y="5852160"/>
            <a:ext cx="91440" cy="9144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41280" y="6217920"/>
            <a:ext cx="54864" cy="54864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45720" cy="4572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338560" y="3291840"/>
            <a:ext cx="45720" cy="45720"/>
          </a:xfrm>
          <a:prstGeom prst="ellipse">
            <a:avLst/>
          </a:prstGeom>
          <a:solidFill>
            <a:srgbClr val="5EEAD4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535794" y="-648538"/>
            <a:ext cx="5943600" cy="4846320"/>
          </a:xfrm>
          <a:prstGeom prst="ellipse">
            <a:avLst/>
          </a:prstGeom>
          <a:solidFill>
            <a:srgbClr val="0EA5A4">
              <a:alpha val="12000"/>
            </a:srgbClr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916319" y="-269748"/>
            <a:ext cx="4389120" cy="4023360"/>
          </a:xfrm>
          <a:prstGeom prst="ellipse">
            <a:avLst/>
          </a:prstGeom>
          <a:solidFill>
            <a:srgbClr val="0EA5A4">
              <a:alpha val="18000"/>
            </a:srgbClr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1225995" y="4663440"/>
            <a:ext cx="3429000" cy="3154680"/>
          </a:xfrm>
          <a:prstGeom prst="ellipse">
            <a:avLst/>
          </a:prstGeom>
          <a:solidFill>
            <a:srgbClr val="7C6AE0">
              <a:alpha val="12000"/>
            </a:srgbClr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" y="100584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088136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HEALTHTECH TRACK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594360" y="16459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0" b="1" kern="0" spc="-200">
                <a:solidFill>
                  <a:srgbClr val="FFFFFF"/>
                </a:solidFill>
                <a:effectLst>
                  <a:outerShdw blurRad="152400" algn="ctr" rotWithShape="0">
                    <a:srgbClr val="5EEAD4">
                      <a:alpha val="40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endParaRPr lang="en-US" sz="11000"/>
          </a:p>
        </p:txBody>
      </p:sp>
      <p:sp>
        <p:nvSpPr>
          <p:cNvPr id="21" name="Shape 18"/>
          <p:cNvSpPr/>
          <p:nvPr/>
        </p:nvSpPr>
        <p:spPr>
          <a:xfrm>
            <a:off x="4160520" y="2743200"/>
            <a:ext cx="201168" cy="201168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5800" y="32461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browser agents that match patients to clinical trials across the entire web — not just one database.</a:t>
            </a:r>
            <a:endParaRPr lang="en-US" sz="1900"/>
          </a:p>
        </p:txBody>
      </p:sp>
      <p:sp>
        <p:nvSpPr>
          <p:cNvPr id="23" name="Text 20"/>
          <p:cNvSpPr/>
          <p:nvPr/>
        </p:nvSpPr>
        <p:spPr>
          <a:xfrm>
            <a:off x="685800" y="4709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B5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research clinics time and money. Opening life-saving treatment options to patients who would never find them.</a:t>
            </a:r>
            <a:endParaRPr lang="en-US" sz="1300"/>
          </a:p>
        </p:txBody>
      </p:sp>
      <p:sp>
        <p:nvSpPr>
          <p:cNvPr id="24" name="Shape 21"/>
          <p:cNvSpPr/>
          <p:nvPr/>
        </p:nvSpPr>
        <p:spPr>
          <a:xfrm>
            <a:off x="685800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742432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43000" y="5669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38</a:t>
            </a:r>
            <a:endParaRPr lang="en-US" sz="1000"/>
          </a:p>
        </p:txBody>
      </p:sp>
      <p:sp>
        <p:nvSpPr>
          <p:cNvPr id="27" name="Shape 23"/>
          <p:cNvSpPr/>
          <p:nvPr/>
        </p:nvSpPr>
        <p:spPr>
          <a:xfrm>
            <a:off x="2542032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24" y="5742432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999232" y="5669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</a:t>
            </a:r>
            <a:endParaRPr lang="en-US" sz="1000"/>
          </a:p>
        </p:txBody>
      </p:sp>
      <p:sp>
        <p:nvSpPr>
          <p:cNvPr id="30" name="Shape 25"/>
          <p:cNvSpPr/>
          <p:nvPr/>
        </p:nvSpPr>
        <p:spPr>
          <a:xfrm>
            <a:off x="4398264" y="56692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856" y="574243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55464" y="56692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000"/>
          </a:p>
        </p:txBody>
      </p:sp>
      <p:sp>
        <p:nvSpPr>
          <p:cNvPr id="33" name="Shape 27"/>
          <p:cNvSpPr/>
          <p:nvPr/>
        </p:nvSpPr>
        <p:spPr>
          <a:xfrm>
            <a:off x="7040880" y="1783080"/>
            <a:ext cx="4572000" cy="411480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5EEA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26948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NETWORK</a:t>
            </a:r>
            <a:endParaRPr lang="en-US" sz="900"/>
          </a:p>
        </p:txBody>
      </p:sp>
      <p:sp>
        <p:nvSpPr>
          <p:cNvPr id="35" name="Text 29"/>
          <p:cNvSpPr/>
          <p:nvPr/>
        </p:nvSpPr>
        <p:spPr>
          <a:xfrm>
            <a:off x="1074420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/>
          </a:p>
        </p:txBody>
      </p:sp>
      <p:sp>
        <p:nvSpPr>
          <p:cNvPr id="36" name="Shape 30"/>
          <p:cNvSpPr/>
          <p:nvPr/>
        </p:nvSpPr>
        <p:spPr>
          <a:xfrm>
            <a:off x="11320272" y="2039112"/>
            <a:ext cx="128016" cy="128016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549640" y="2926080"/>
            <a:ext cx="1554480" cy="1554480"/>
          </a:xfrm>
          <a:prstGeom prst="ellipse">
            <a:avLst/>
          </a:prstGeom>
          <a:solidFill>
            <a:srgbClr val="0EA5A4">
              <a:alpha val="12000"/>
            </a:srgbClr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778240" y="3154680"/>
            <a:ext cx="1097280" cy="1097280"/>
          </a:xfrm>
          <a:prstGeom prst="ellipse">
            <a:avLst/>
          </a:prstGeom>
          <a:solidFill>
            <a:srgbClr val="0EA5A4">
              <a:alpha val="22000"/>
            </a:srgbClr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8915400" y="3291840"/>
            <a:ext cx="822960" cy="822960"/>
          </a:xfrm>
          <a:prstGeom prst="ellipse">
            <a:avLst/>
          </a:prstGeom>
          <a:solidFill>
            <a:srgbClr val="0EA5A4"/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3520440"/>
            <a:ext cx="365760" cy="36576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8311197" y="2851061"/>
            <a:ext cx="1015683" cy="852259"/>
          </a:xfrm>
          <a:prstGeom prst="line">
            <a:avLst/>
          </a:prstGeom>
          <a:noFill/>
          <a:ln w="15240">
            <a:solidFill>
              <a:srgbClr val="5EEAD4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8055165" y="2595029"/>
            <a:ext cx="512064" cy="512064"/>
          </a:xfrm>
          <a:prstGeom prst="ellipse">
            <a:avLst/>
          </a:prstGeom>
          <a:solidFill>
            <a:srgbClr val="13365E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037" y="2713901"/>
            <a:ext cx="274320" cy="27432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 flipH="1">
            <a:off x="9326880" y="2377440"/>
            <a:ext cx="9144" cy="1325880"/>
          </a:xfrm>
          <a:prstGeom prst="line">
            <a:avLst/>
          </a:prstGeom>
          <a:noFill/>
          <a:ln w="15240">
            <a:solidFill>
              <a:srgbClr val="5EEAD4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9070848" y="2121408"/>
            <a:ext cx="512064" cy="512064"/>
          </a:xfrm>
          <a:prstGeom prst="ellipse">
            <a:avLst/>
          </a:prstGeom>
          <a:solidFill>
            <a:srgbClr val="13365E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2240280"/>
            <a:ext cx="274320" cy="27432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 flipH="1">
            <a:off x="9326880" y="2851061"/>
            <a:ext cx="1015683" cy="852259"/>
          </a:xfrm>
          <a:prstGeom prst="line">
            <a:avLst/>
          </a:prstGeom>
          <a:noFill/>
          <a:ln w="15240">
            <a:solidFill>
              <a:srgbClr val="5EEAD4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>
            <a:off x="10086531" y="2595029"/>
            <a:ext cx="512064" cy="512064"/>
          </a:xfrm>
          <a:prstGeom prst="ellipse">
            <a:avLst/>
          </a:prstGeom>
          <a:solidFill>
            <a:srgbClr val="13365E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5403" y="2713901"/>
            <a:ext cx="274320" cy="274320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9326880" y="3703320"/>
            <a:ext cx="1015683" cy="852259"/>
          </a:xfrm>
          <a:prstGeom prst="line">
            <a:avLst/>
          </a:prstGeom>
          <a:noFill/>
          <a:ln w="15240">
            <a:solidFill>
              <a:srgbClr val="5EEAD4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1"/>
          <p:cNvSpPr/>
          <p:nvPr/>
        </p:nvSpPr>
        <p:spPr>
          <a:xfrm>
            <a:off x="10086531" y="4299547"/>
            <a:ext cx="512064" cy="512064"/>
          </a:xfrm>
          <a:prstGeom prst="ellipse">
            <a:avLst/>
          </a:prstGeom>
          <a:solidFill>
            <a:srgbClr val="13365E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5403" y="4418419"/>
            <a:ext cx="274320" cy="274320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9326880" y="3703320"/>
            <a:ext cx="9144" cy="1325880"/>
          </a:xfrm>
          <a:prstGeom prst="line">
            <a:avLst/>
          </a:prstGeom>
          <a:noFill/>
          <a:ln w="15240">
            <a:solidFill>
              <a:srgbClr val="5EEAD4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3"/>
          <p:cNvSpPr/>
          <p:nvPr/>
        </p:nvSpPr>
        <p:spPr>
          <a:xfrm>
            <a:off x="9070848" y="4773168"/>
            <a:ext cx="512064" cy="512064"/>
          </a:xfrm>
          <a:prstGeom prst="ellipse">
            <a:avLst/>
          </a:prstGeom>
          <a:solidFill>
            <a:srgbClr val="13365E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720" y="4892040"/>
            <a:ext cx="274320" cy="274320"/>
          </a:xfrm>
          <a:prstGeom prst="rect">
            <a:avLst/>
          </a:prstGeom>
        </p:spPr>
      </p:pic>
      <p:sp>
        <p:nvSpPr>
          <p:cNvPr id="56" name="Shape 44"/>
          <p:cNvSpPr/>
          <p:nvPr/>
        </p:nvSpPr>
        <p:spPr>
          <a:xfrm flipH="1">
            <a:off x="8311197" y="3703320"/>
            <a:ext cx="1015683" cy="852259"/>
          </a:xfrm>
          <a:prstGeom prst="line">
            <a:avLst/>
          </a:prstGeom>
          <a:noFill/>
          <a:ln w="15240">
            <a:solidFill>
              <a:srgbClr val="5EEAD4">
                <a:alpha val="4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5"/>
          <p:cNvSpPr/>
          <p:nvPr/>
        </p:nvSpPr>
        <p:spPr>
          <a:xfrm>
            <a:off x="8055165" y="4299547"/>
            <a:ext cx="512064" cy="512064"/>
          </a:xfrm>
          <a:prstGeom prst="ellipse">
            <a:avLst/>
          </a:prstGeom>
          <a:solidFill>
            <a:srgbClr val="13365E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4037" y="4418419"/>
            <a:ext cx="274320" cy="27432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7269480" y="5440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matching trials returned in 185 seconds (demo)</a:t>
            </a:r>
            <a:endParaRPr lang="en-US" sz="900"/>
          </a:p>
        </p:txBody>
      </p:sp>
      <p:sp>
        <p:nvSpPr>
          <p:cNvPr id="60" name="Text 47"/>
          <p:cNvSpPr/>
          <p:nvPr/>
        </p:nvSpPr>
        <p:spPr>
          <a:xfrm>
            <a:off x="68580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 Arya  •  Ahmed Shahkhan  •  Eshwar Rajasekar</a:t>
            </a:r>
            <a:endParaRPr lang="en-US" sz="10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rket Opportuni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BG"/>
          <p:cNvSpPr/>
          <p:nvPr/>
        </p:nvSpPr>
        <p:spPr>
          <a:xfrm>
            <a:off x="548640" y="4114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Badge Text"/>
          <p:cNvSpPr/>
          <p:nvPr/>
        </p:nvSpPr>
        <p:spPr>
          <a:xfrm>
            <a:off x="548640" y="411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/>
          </a:p>
        </p:txBody>
      </p:sp>
      <p:sp>
        <p:nvSpPr>
          <p:cNvPr id="4" name="Title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 — with explosive AI-driven growth.</a:t>
            </a:r>
            <a:endParaRPr lang="en-US" sz="2800"/>
          </a:p>
        </p:txBody>
      </p:sp>
      <p:sp>
        <p:nvSpPr>
          <p:cNvPr id="5" name="Subtitle"/>
          <p:cNvSpPr/>
          <p:nvPr/>
        </p:nvSpPr>
        <p:spPr>
          <a:xfrm>
            <a:off x="548640" y="1310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are failing patients and clinics. AI is reshaping the solution landscape — and TrialFind is built for this moment.</a:t>
            </a:r>
            <a:endParaRPr lang="en-US" sz="1400"/>
          </a:p>
        </p:txBody>
      </p:sp>
      <p:sp>
        <p:nvSpPr>
          <p:cNvPr id="10" name="Left Card BG"/>
          <p:cNvSpPr/>
          <p:nvPr/>
        </p:nvSpPr>
        <p:spPr>
          <a:xfrm>
            <a:off x="548640" y="1828800"/>
            <a:ext cx="5257800" cy="4297680"/>
          </a:xfrm>
          <a:prstGeom prst="rect">
            <a:avLst/>
          </a:prstGeom>
          <a:solidFill>
            <a:srgbClr val="F6F8FC"/>
          </a:solidFill>
          <a:ln w="952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Left Accent"/>
          <p:cNvSpPr/>
          <p:nvPr/>
        </p:nvSpPr>
        <p:spPr>
          <a:xfrm>
            <a:off x="548640" y="1828800"/>
            <a:ext cx="82296" cy="4297680"/>
          </a:xfrm>
          <a:prstGeom prst="rect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eft Header"/>
          <p:cNvSpPr/>
          <p:nvPr/>
        </p:nvSpPr>
        <p:spPr>
          <a:xfrm>
            <a:off x="86868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/>
          </a:p>
        </p:txBody>
      </p:sp>
      <p:sp>
        <p:nvSpPr>
          <p:cNvPr id="13" name="Left Subtitle"/>
          <p:cNvSpPr/>
          <p:nvPr/>
        </p:nvSpPr>
        <p:spPr>
          <a:xfrm>
            <a:off x="86868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broken — and most patients never get a chance.</a:t>
            </a:r>
            <a:endParaRPr lang="en-US" sz="1100"/>
          </a:p>
        </p:txBody>
      </p:sp>
      <p:sp>
        <p:nvSpPr>
          <p:cNvPr id="20" name="Stat1 Number"/>
          <p:cNvSpPr/>
          <p:nvPr/>
        </p:nvSpPr>
        <p:spPr>
          <a:xfrm>
            <a:off x="86868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/>
          </a:p>
        </p:txBody>
      </p:sp>
      <p:sp>
        <p:nvSpPr>
          <p:cNvPr id="21" name="Stat1 Desc"/>
          <p:cNvSpPr/>
          <p:nvPr/>
        </p:nvSpPr>
        <p:spPr>
          <a:xfrm>
            <a:off x="196596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clinical trials fail to reach enrollment targets — yet 80% of patients would consider a trial if they had known about it</a:t>
            </a:r>
            <a:endParaRPr lang="en-US" sz="1100"/>
          </a:p>
        </p:txBody>
      </p:sp>
      <p:sp>
        <p:nvSpPr>
          <p:cNvPr id="22" name="Divider1"/>
          <p:cNvSpPr/>
          <p:nvPr/>
        </p:nvSpPr>
        <p:spPr>
          <a:xfrm>
            <a:off x="868680" y="3200400"/>
            <a:ext cx="46634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tat2 Number"/>
          <p:cNvSpPr/>
          <p:nvPr/>
        </p:nvSpPr>
        <p:spPr>
          <a:xfrm>
            <a:off x="868680" y="33101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/>
          </a:p>
        </p:txBody>
      </p:sp>
      <p:sp>
        <p:nvSpPr>
          <p:cNvPr id="24" name="Stat2 Desc"/>
          <p:cNvSpPr/>
          <p:nvPr/>
        </p:nvSpPr>
        <p:spPr>
          <a:xfrm>
            <a:off x="1965960" y="33101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live more than 2 hours from a major research center — the infrastructure simply isn’t built for access</a:t>
            </a:r>
            <a:endParaRPr lang="en-US" sz="1100"/>
          </a:p>
        </p:txBody>
      </p:sp>
      <p:sp>
        <p:nvSpPr>
          <p:cNvPr id="25" name="Divider2"/>
          <p:cNvSpPr/>
          <p:nvPr/>
        </p:nvSpPr>
        <p:spPr>
          <a:xfrm>
            <a:off x="868680" y="3950208"/>
            <a:ext cx="46634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tat3 Number"/>
          <p:cNvSpPr/>
          <p:nvPr/>
        </p:nvSpPr>
        <p:spPr>
          <a:xfrm>
            <a:off x="868680" y="405993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600"/>
          </a:p>
          <a:p>
            <a:pPr marL="0" indent="0">
              <a:buNone/>
            </a:pP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/>
          </a:p>
        </p:txBody>
      </p:sp>
      <p:sp>
        <p:nvSpPr>
          <p:cNvPr id="27" name="Stat3 Desc"/>
          <p:cNvSpPr/>
          <p:nvPr/>
        </p:nvSpPr>
        <p:spPr>
          <a:xfrm>
            <a:off x="1965960" y="40599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legal window before a trial must appear on clinicaltrials.gov — meaning active trials at Mayo Clinic and other centers can’t be found there yet</a:t>
            </a:r>
            <a:endParaRPr lang="en-US" sz="1100"/>
          </a:p>
        </p:txBody>
      </p:sp>
      <p:sp>
        <p:nvSpPr>
          <p:cNvPr id="28" name="Left Bottom"/>
          <p:cNvSpPr/>
          <p:nvPr/>
        </p:nvSpPr>
        <p:spPr>
          <a:xfrm>
            <a:off x="868680" y="5029200"/>
            <a:ext cx="4663440" cy="45720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miss life-changing treatments.  Clinics lose time and money.  Medical advances stall.</a:t>
            </a:r>
            <a:endParaRPr lang="en-US" sz="1000"/>
          </a:p>
        </p:txBody>
      </p:sp>
      <p:sp>
        <p:nvSpPr>
          <p:cNvPr id="30" name="Right Card BG"/>
          <p:cNvSpPr/>
          <p:nvPr/>
        </p:nvSpPr>
        <p:spPr>
          <a:xfrm>
            <a:off x="6126480" y="1828800"/>
            <a:ext cx="5517000" cy="4297680"/>
          </a:xfrm>
          <a:prstGeom prst="rect">
            <a:avLst/>
          </a:prstGeom>
          <a:solidFill>
            <a:srgbClr val="F6F8FC"/>
          </a:solidFill>
          <a:ln w="952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Right Accent"/>
          <p:cNvSpPr/>
          <p:nvPr/>
        </p:nvSpPr>
        <p:spPr>
          <a:xfrm>
            <a:off x="6126480" y="1828800"/>
            <a:ext cx="82296" cy="42976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ight Header"/>
          <p:cNvSpPr/>
          <p:nvPr/>
        </p:nvSpPr>
        <p:spPr>
          <a:xfrm>
            <a:off x="644652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/>
          </a:p>
        </p:txBody>
      </p:sp>
      <p:sp>
        <p:nvSpPr>
          <p:cNvPr id="33" name="Right Subtitle"/>
          <p:cNvSpPr/>
          <p:nvPr/>
        </p:nvSpPr>
        <p:spPr>
          <a:xfrm>
            <a:off x="644652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trials is one of the fastest-growing segments in health tech.</a:t>
            </a:r>
            <a:endParaRPr lang="en-US" sz="1100"/>
          </a:p>
        </p:txBody>
      </p:sp>
      <p:sp>
        <p:nvSpPr>
          <p:cNvPr id="40" name="Market1 Label"/>
          <p:cNvSpPr/>
          <p:nvPr/>
        </p:nvSpPr>
        <p:spPr>
          <a:xfrm>
            <a:off x="6446520" y="2560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MATCHING</a:t>
            </a:r>
            <a:endParaRPr lang="en-US" sz="1000"/>
          </a:p>
        </p:txBody>
      </p:sp>
      <p:sp>
        <p:nvSpPr>
          <p:cNvPr id="41" name="Market1 Value"/>
          <p:cNvSpPr/>
          <p:nvPr/>
        </p:nvSpPr>
        <p:spPr>
          <a:xfrm>
            <a:off x="644652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$641.6M  →  $2.4B by 2030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24.8% CAGR</a:t>
            </a:r>
            <a:endParaRPr lang="en-US" sz="1000"/>
          </a:p>
        </p:txBody>
      </p:sp>
      <p:sp>
        <p:nvSpPr>
          <p:cNvPr id="42" name="DividerR1"/>
          <p:cNvSpPr/>
          <p:nvPr/>
        </p:nvSpPr>
        <p:spPr>
          <a:xfrm>
            <a:off x="6446520" y="3246120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Market2 Label"/>
          <p:cNvSpPr/>
          <p:nvPr/>
        </p:nvSpPr>
        <p:spPr>
          <a:xfrm>
            <a:off x="6446520" y="33375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TRIALS (OVERALL)</a:t>
            </a:r>
            <a:endParaRPr lang="en-US" sz="1000"/>
          </a:p>
        </p:txBody>
      </p:sp>
      <p:sp>
        <p:nvSpPr>
          <p:cNvPr id="44" name="Market2 Value"/>
          <p:cNvSpPr/>
          <p:nvPr/>
        </p:nvSpPr>
        <p:spPr>
          <a:xfrm>
            <a:off x="644652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  →  $8.5B by 2030</a:t>
            </a:r>
            <a:endParaRPr lang="en-US" sz="2000"/>
          </a:p>
        </p:txBody>
      </p:sp>
      <p:sp>
        <p:nvSpPr>
          <p:cNvPr id="45" name="DividerR2"/>
          <p:cNvSpPr/>
          <p:nvPr/>
        </p:nvSpPr>
        <p:spPr>
          <a:xfrm>
            <a:off x="6446520" y="4023360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Market3 Label"/>
          <p:cNvSpPr/>
          <p:nvPr/>
        </p:nvSpPr>
        <p:spPr>
          <a:xfrm>
            <a:off x="6446520" y="4114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PROVIDERS</a:t>
            </a:r>
            <a:endParaRPr lang="en-US" sz="1000"/>
          </a:p>
        </p:txBody>
      </p:sp>
      <p:sp>
        <p:nvSpPr>
          <p:cNvPr id="47" name="Market3 Value"/>
          <p:cNvSpPr/>
          <p:nvPr/>
        </p:nvSpPr>
        <p:spPr>
          <a:xfrm>
            <a:off x="644652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$1.9B  →  $7.8B by 2030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22.1% CAGR</a:t>
            </a:r>
            <a:endParaRPr lang="en-US" sz="1000"/>
          </a:p>
        </p:txBody>
      </p:sp>
      <p:sp>
        <p:nvSpPr>
          <p:cNvPr id="48" name="Right Bottom"/>
          <p:cNvSpPr/>
          <p:nvPr/>
        </p:nvSpPr>
        <p:spPr>
          <a:xfrm>
            <a:off x="6446520" y="4846320"/>
            <a:ext cx="4937760" cy="640080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2030, AI is expected to be integrated into 60–70% of clinical trials, saving pharma $20–30B annually.</a:t>
            </a:r>
            <a:endParaRPr lang="en-US" sz="1000"/>
          </a:p>
        </p:txBody>
      </p:sp>
      <p:sp>
        <p:nvSpPr>
          <p:cNvPr id="50" name="Footer Left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51" name="Footer Right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APPENDIX</a:t>
            </a:r>
            <a:endParaRPr lang="en-US" sz="900"/>
          </a:p>
        </p:txBody>
      </p:sp>
      <p:sp>
        <p:nvSpPr>
          <p:cNvPr id="52" name="Footer Line"/>
          <p:cNvSpPr/>
          <p:nvPr/>
        </p:nvSpPr>
        <p:spPr>
          <a:xfrm>
            <a:off x="548640" y="64465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recruitment is broken — on both sides.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can't find trials.  Clinics can't find patients.  Both sides lose.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3840480"/>
          </a:xfrm>
          <a:prstGeom prst="rect">
            <a:avLst/>
          </a:prstGeom>
          <a:solidFill>
            <a:srgbClr val="F6F8FC"/>
          </a:solidFill>
          <a:ln w="952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82296" cy="3840480"/>
          </a:xfrm>
          <a:prstGeom prst="rect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371600" y="24048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 and missed information.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868680" y="2880360"/>
            <a:ext cx="4617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400"/>
          </a:p>
        </p:txBody>
      </p:sp>
      <p:sp>
        <p:nvSpPr>
          <p:cNvPr id="13" name="Text 10"/>
          <p:cNvSpPr/>
          <p:nvPr/>
        </p:nvSpPr>
        <p:spPr>
          <a:xfrm>
            <a:off x="320040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don't know what a clinical trial is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NCI, 2024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868680" y="4251960"/>
            <a:ext cx="46177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51560" y="43434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5400"/>
          </a:p>
        </p:txBody>
      </p:sp>
      <p:sp>
        <p:nvSpPr>
          <p:cNvPr id="16" name="Text 13"/>
          <p:cNvSpPr/>
          <p:nvPr/>
        </p:nvSpPr>
        <p:spPr>
          <a:xfrm>
            <a:off x="3200400" y="43434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 cancer patients participate in trials</a:t>
            </a:r>
            <a:endParaRPr lang="en-US" sz="1300"/>
          </a:p>
          <a:p>
            <a:pPr marL="0" indent="0">
              <a:spcAft>
                <a:spcPts val="400"/>
              </a:spcAft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NCODA, 2025</a:t>
            </a:r>
            <a:endParaRPr lang="en-US" sz="1300"/>
          </a:p>
        </p:txBody>
      </p:sp>
      <p:sp>
        <p:nvSpPr>
          <p:cNvPr id="17" name="Shape 14"/>
          <p:cNvSpPr/>
          <p:nvPr/>
        </p:nvSpPr>
        <p:spPr>
          <a:xfrm>
            <a:off x="6355080" y="1874520"/>
            <a:ext cx="5257800" cy="3840480"/>
          </a:xfrm>
          <a:prstGeom prst="rect">
            <a:avLst/>
          </a:prstGeom>
          <a:solidFill>
            <a:srgbClr val="F6F8FC"/>
          </a:solidFill>
          <a:ln w="952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55080" y="1874520"/>
            <a:ext cx="82296" cy="38404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4884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8040" y="2130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 &amp;  SPONSORS</a:t>
            </a:r>
            <a:endParaRPr lang="en-US" sz="1100"/>
          </a:p>
        </p:txBody>
      </p:sp>
      <p:sp>
        <p:nvSpPr>
          <p:cNvPr id="21" name="Text 17"/>
          <p:cNvSpPr/>
          <p:nvPr/>
        </p:nvSpPr>
        <p:spPr>
          <a:xfrm>
            <a:off x="7178040" y="24048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is the #1 cause of trial delays and failures.</a:t>
            </a:r>
            <a:endParaRPr lang="en-US" sz="1300"/>
          </a:p>
        </p:txBody>
      </p:sp>
      <p:sp>
        <p:nvSpPr>
          <p:cNvPr id="22" name="Shape 18"/>
          <p:cNvSpPr/>
          <p:nvPr/>
        </p:nvSpPr>
        <p:spPr>
          <a:xfrm>
            <a:off x="6675120" y="288036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858000" y="3017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80–85%</a:t>
            </a:r>
            <a:endParaRPr lang="en-US" sz="3400"/>
          </a:p>
        </p:txBody>
      </p:sp>
      <p:sp>
        <p:nvSpPr>
          <p:cNvPr id="24" name="Text 20"/>
          <p:cNvSpPr/>
          <p:nvPr/>
        </p:nvSpPr>
        <p:spPr>
          <a:xfrm>
            <a:off x="685800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miss initial enrollment targets</a:t>
            </a:r>
            <a:endParaRPr lang="en-US" sz="1100"/>
          </a:p>
        </p:txBody>
      </p:sp>
      <p:sp>
        <p:nvSpPr>
          <p:cNvPr id="25" name="Shape 21"/>
          <p:cNvSpPr/>
          <p:nvPr/>
        </p:nvSpPr>
        <p:spPr>
          <a:xfrm>
            <a:off x="9052560" y="288036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9235440" y="30175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400"/>
          </a:p>
        </p:txBody>
      </p:sp>
      <p:sp>
        <p:nvSpPr>
          <p:cNvPr id="27" name="Text 23"/>
          <p:cNvSpPr/>
          <p:nvPr/>
        </p:nvSpPr>
        <p:spPr>
          <a:xfrm>
            <a:off x="923544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planned timelines</a:t>
            </a:r>
            <a:endParaRPr lang="en-US" sz="1100"/>
          </a:p>
        </p:txBody>
      </p:sp>
      <p:sp>
        <p:nvSpPr>
          <p:cNvPr id="28" name="Shape 24"/>
          <p:cNvSpPr/>
          <p:nvPr/>
        </p:nvSpPr>
        <p:spPr>
          <a:xfrm>
            <a:off x="6675120" y="416052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858000" y="4297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3400"/>
          </a:p>
        </p:txBody>
      </p:sp>
      <p:sp>
        <p:nvSpPr>
          <p:cNvPr id="30" name="Text 26"/>
          <p:cNvSpPr/>
          <p:nvPr/>
        </p:nvSpPr>
        <p:spPr>
          <a:xfrm>
            <a:off x="6858000" y="4937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sites under-enroll</a:t>
            </a:r>
            <a:endParaRPr lang="en-US" sz="1100"/>
          </a:p>
        </p:txBody>
      </p:sp>
      <p:sp>
        <p:nvSpPr>
          <p:cNvPr id="31" name="Shape 27"/>
          <p:cNvSpPr/>
          <p:nvPr/>
        </p:nvSpPr>
        <p:spPr>
          <a:xfrm>
            <a:off x="9052560" y="4160520"/>
            <a:ext cx="22402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9235440" y="4297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3400"/>
          </a:p>
        </p:txBody>
      </p:sp>
      <p:sp>
        <p:nvSpPr>
          <p:cNvPr id="33" name="Text 29"/>
          <p:cNvSpPr/>
          <p:nvPr/>
        </p:nvSpPr>
        <p:spPr>
          <a:xfrm>
            <a:off x="9235440" y="49377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no patients at all</a:t>
            </a:r>
            <a:endParaRPr lang="en-US" sz="1100"/>
          </a:p>
        </p:txBody>
      </p:sp>
      <p:sp>
        <p:nvSpPr>
          <p:cNvPr id="34" name="Text 30"/>
          <p:cNvSpPr/>
          <p:nvPr/>
        </p:nvSpPr>
        <p:spPr>
          <a:xfrm>
            <a:off x="6675120" y="533095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accrual can cost sponsors </a:t>
            </a:r>
            <a:r>
              <a:rPr lang="en-US" sz="1100" b="1" i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dollars per day</a:t>
            </a:r>
            <a:r>
              <a:rPr lang="en-US" sz="11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delays.</a:t>
            </a:r>
            <a:endParaRPr lang="en-US" sz="1100"/>
          </a:p>
        </p:txBody>
      </p:sp>
      <p:sp>
        <p:nvSpPr>
          <p:cNvPr id="35" name="Shape 31"/>
          <p:cNvSpPr/>
          <p:nvPr/>
        </p:nvSpPr>
        <p:spPr>
          <a:xfrm>
            <a:off x="548640" y="5870448"/>
            <a:ext cx="1106424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731520" y="58704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/>
          </a:p>
        </p:txBody>
      </p:sp>
      <p:sp>
        <p:nvSpPr>
          <p:cNvPr id="37" name="Text 33"/>
          <p:cNvSpPr/>
          <p:nvPr/>
        </p:nvSpPr>
        <p:spPr>
          <a:xfrm>
            <a:off x="2560320" y="5870448"/>
            <a:ext cx="298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miss life-changing treatments</a:t>
            </a:r>
            <a:endParaRPr lang="en-US" sz="1100"/>
          </a:p>
        </p:txBody>
      </p:sp>
      <p:sp>
        <p:nvSpPr>
          <p:cNvPr id="38" name="Text 34"/>
          <p:cNvSpPr/>
          <p:nvPr/>
        </p:nvSpPr>
        <p:spPr>
          <a:xfrm>
            <a:off x="5547360" y="5870448"/>
            <a:ext cx="298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lose time, money, and momentum</a:t>
            </a:r>
            <a:endParaRPr lang="en-US" sz="1100"/>
          </a:p>
        </p:txBody>
      </p:sp>
      <p:sp>
        <p:nvSpPr>
          <p:cNvPr id="39" name="Text 35"/>
          <p:cNvSpPr/>
          <p:nvPr/>
        </p:nvSpPr>
        <p:spPr>
          <a:xfrm>
            <a:off x="8534400" y="5870448"/>
            <a:ext cx="298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advances are delayed for everyone</a:t>
            </a:r>
            <a:endParaRPr lang="en-US" sz="1100"/>
          </a:p>
        </p:txBody>
      </p:sp>
      <p:sp>
        <p:nvSpPr>
          <p:cNvPr id="40" name="Shape 36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42" name="Text 38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2 / 6</a:t>
            </a:r>
            <a:endParaRPr lang="en-US" sz="90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75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225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375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525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675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" presetID="10" presetClass="entr" presetSubtype="0" fill="hold" nodeType="withEffect">
                            <p:stCondLst>
                              <p:cond delay="5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3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" presetID="10" presetClass="entr" presetSubtype="0" fill="hold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22" presetClass="entr" presetSubtype="2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8" dur="6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22" presetClass="entr" presetSubtype="2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22" presetClass="entr" presetSubtype="2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4" dur="6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22" presetClass="entr" presetSubtype="2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6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22" presetClass="entr" presetSubtype="2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0" dur="6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of the market win — and that's the whole business model.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discover trials they'd never find. Clinics fill studies faster and cheaper. That's why both sides adopt.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257800" cy="777240"/>
          </a:xfrm>
          <a:prstGeom prst="rect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20824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385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>
                <a:solidFill>
                  <a:srgbClr val="B5A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1371600" y="2176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treatments they'd never find.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F3F0FE"/>
          </a:solidFill>
          <a:ln w="9525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99008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8620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across the open web</a:t>
            </a:r>
            <a:endParaRPr lang="en-US" sz="1300"/>
          </a:p>
        </p:txBody>
      </p:sp>
      <p:sp>
        <p:nvSpPr>
          <p:cNvPr id="14" name="Text 10"/>
          <p:cNvSpPr/>
          <p:nvPr/>
        </p:nvSpPr>
        <p:spPr>
          <a:xfrm>
            <a:off x="1463040" y="315468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surfaced from hospital sites, regional registries, and pharma pages — not just one database.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822960" y="3646170"/>
            <a:ext cx="502920" cy="502920"/>
          </a:xfrm>
          <a:prstGeom prst="ellipse">
            <a:avLst/>
          </a:prstGeom>
          <a:solidFill>
            <a:srgbClr val="F3F0FE"/>
          </a:solidFill>
          <a:ln w="9525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75589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2788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1463040" y="392049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translated into everyday words. No dense medical walls to decode.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822960" y="4411980"/>
            <a:ext cx="502920" cy="502920"/>
          </a:xfrm>
          <a:prstGeom prst="ellipse">
            <a:avLst/>
          </a:prstGeom>
          <a:solidFill>
            <a:srgbClr val="F3F0FE"/>
          </a:solidFill>
          <a:ln w="9525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52170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3936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 paths</a:t>
            </a:r>
            <a:endParaRPr lang="en-US" sz="1300"/>
          </a:p>
        </p:txBody>
      </p:sp>
      <p:sp>
        <p:nvSpPr>
          <p:cNvPr id="22" name="Text 16"/>
          <p:cNvSpPr/>
          <p:nvPr/>
        </p:nvSpPr>
        <p:spPr>
          <a:xfrm>
            <a:off x="1463040" y="468630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from match to apply. Links back to the original trial source — always verifiable.</a:t>
            </a:r>
            <a:endParaRPr lang="en-US" sz="1050"/>
          </a:p>
        </p:txBody>
      </p:sp>
      <p:sp>
        <p:nvSpPr>
          <p:cNvPr id="23" name="Shape 17"/>
          <p:cNvSpPr/>
          <p:nvPr/>
        </p:nvSpPr>
        <p:spPr>
          <a:xfrm>
            <a:off x="822960" y="5177790"/>
            <a:ext cx="502920" cy="502920"/>
          </a:xfrm>
          <a:prstGeom prst="ellipse">
            <a:avLst/>
          </a:prstGeom>
          <a:solidFill>
            <a:srgbClr val="F3F0FE"/>
          </a:solidFill>
          <a:ln w="9525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287518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515950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forgotten</a:t>
            </a:r>
            <a:endParaRPr lang="en-US" sz="1300"/>
          </a:p>
        </p:txBody>
      </p:sp>
      <p:sp>
        <p:nvSpPr>
          <p:cNvPr id="26" name="Text 19"/>
          <p:cNvSpPr/>
          <p:nvPr/>
        </p:nvSpPr>
        <p:spPr>
          <a:xfrm>
            <a:off x="1463040" y="545211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today? Profile is securely re-queried against new trials. Email alert the moment one appears.</a:t>
            </a:r>
            <a:endParaRPr lang="en-US" sz="1050"/>
          </a:p>
        </p:txBody>
      </p:sp>
      <p:sp>
        <p:nvSpPr>
          <p:cNvPr id="27" name="Shape 20"/>
          <p:cNvSpPr/>
          <p:nvPr/>
        </p:nvSpPr>
        <p:spPr>
          <a:xfrm>
            <a:off x="6355080" y="1828800"/>
            <a:ext cx="5257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6355080" y="1828800"/>
            <a:ext cx="5257800" cy="777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020824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78040" y="19385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>
                <a:solidFill>
                  <a:srgbClr val="E0F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CLINICS  &amp;  SPONSORS</a:t>
            </a:r>
            <a:endParaRPr lang="en-US" sz="1000"/>
          </a:p>
        </p:txBody>
      </p:sp>
      <p:sp>
        <p:nvSpPr>
          <p:cNvPr id="31" name="Text 23"/>
          <p:cNvSpPr/>
          <p:nvPr/>
        </p:nvSpPr>
        <p:spPr>
          <a:xfrm>
            <a:off x="7178040" y="2176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better-matched enrollment.</a:t>
            </a:r>
            <a:endParaRPr lang="en-US" sz="1600"/>
          </a:p>
        </p:txBody>
      </p:sp>
      <p:sp>
        <p:nvSpPr>
          <p:cNvPr id="32" name="Shape 24"/>
          <p:cNvSpPr/>
          <p:nvPr/>
        </p:nvSpPr>
        <p:spPr>
          <a:xfrm>
            <a:off x="6629400" y="2880360"/>
            <a:ext cx="502920" cy="502920"/>
          </a:xfrm>
          <a:prstGeom prst="ellipse">
            <a:avLst/>
          </a:prstGeom>
          <a:solidFill>
            <a:srgbClr val="ECFDFA"/>
          </a:solidFill>
          <a:ln w="9525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66294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100"/>
          </a:p>
        </p:txBody>
      </p:sp>
      <p:sp>
        <p:nvSpPr>
          <p:cNvPr id="34" name="Text 26"/>
          <p:cNvSpPr/>
          <p:nvPr/>
        </p:nvSpPr>
        <p:spPr>
          <a:xfrm>
            <a:off x="7269480" y="28620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cost-per-acquired-patient</a:t>
            </a:r>
            <a:endParaRPr lang="en-US" sz="1300"/>
          </a:p>
        </p:txBody>
      </p:sp>
      <p:sp>
        <p:nvSpPr>
          <p:cNvPr id="35" name="Text 27"/>
          <p:cNvSpPr/>
          <p:nvPr/>
        </p:nvSpPr>
        <p:spPr>
          <a:xfrm>
            <a:off x="7269480" y="315468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50% cheaper than traditional recruitment — while expanding the reachable candidate pool.</a:t>
            </a:r>
            <a:endParaRPr lang="en-US" sz="1050"/>
          </a:p>
        </p:txBody>
      </p:sp>
      <p:sp>
        <p:nvSpPr>
          <p:cNvPr id="36" name="Shape 28"/>
          <p:cNvSpPr/>
          <p:nvPr/>
        </p:nvSpPr>
        <p:spPr>
          <a:xfrm>
            <a:off x="6629400" y="3646170"/>
            <a:ext cx="502920" cy="502920"/>
          </a:xfrm>
          <a:prstGeom prst="ellipse">
            <a:avLst/>
          </a:prstGeom>
          <a:solidFill>
            <a:srgbClr val="ECFDFA"/>
          </a:solidFill>
          <a:ln w="9525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128" y="3755898"/>
            <a:ext cx="283464" cy="28346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69480" y="362788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time-to-enrollment</a:t>
            </a:r>
            <a:endParaRPr lang="en-US" sz="1300"/>
          </a:p>
        </p:txBody>
      </p:sp>
      <p:sp>
        <p:nvSpPr>
          <p:cNvPr id="39" name="Text 30"/>
          <p:cNvSpPr/>
          <p:nvPr/>
        </p:nvSpPr>
        <p:spPr>
          <a:xfrm>
            <a:off x="7269480" y="392049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speedups translate to major ROI — missed accrual can cost sponsors millions per day.</a:t>
            </a:r>
            <a:endParaRPr lang="en-US" sz="1050"/>
          </a:p>
        </p:txBody>
      </p:sp>
      <p:sp>
        <p:nvSpPr>
          <p:cNvPr id="40" name="Shape 31"/>
          <p:cNvSpPr/>
          <p:nvPr/>
        </p:nvSpPr>
        <p:spPr>
          <a:xfrm>
            <a:off x="6629400" y="4411980"/>
            <a:ext cx="502920" cy="502920"/>
          </a:xfrm>
          <a:prstGeom prst="ellipse">
            <a:avLst/>
          </a:prstGeom>
          <a:solidFill>
            <a:srgbClr val="ECFDFA"/>
          </a:solidFill>
          <a:ln w="9525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9128" y="4521708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269480" y="43936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candidate matching</a:t>
            </a:r>
            <a:endParaRPr lang="en-US" sz="1300"/>
          </a:p>
        </p:txBody>
      </p:sp>
      <p:sp>
        <p:nvSpPr>
          <p:cNvPr id="43" name="Text 33"/>
          <p:cNvSpPr/>
          <p:nvPr/>
        </p:nvSpPr>
        <p:spPr>
          <a:xfrm>
            <a:off x="7269480" y="468630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explainable matches improve retention and reduce screen-fail waste.</a:t>
            </a:r>
            <a:endParaRPr lang="en-US" sz="1050"/>
          </a:p>
        </p:txBody>
      </p:sp>
      <p:sp>
        <p:nvSpPr>
          <p:cNvPr id="44" name="Shape 34"/>
          <p:cNvSpPr/>
          <p:nvPr/>
        </p:nvSpPr>
        <p:spPr>
          <a:xfrm>
            <a:off x="6629400" y="5177790"/>
            <a:ext cx="502920" cy="502920"/>
          </a:xfrm>
          <a:prstGeom prst="ellipse">
            <a:avLst/>
          </a:prstGeom>
          <a:solidFill>
            <a:srgbClr val="ECFDFA"/>
          </a:solidFill>
          <a:ln w="9525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9128" y="5287518"/>
            <a:ext cx="283464" cy="28346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269480" y="515950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Pay-per-match pricing</a:t>
            </a:r>
            <a:endParaRPr lang="en-US" sz="1300"/>
          </a:p>
        </p:txBody>
      </p:sp>
      <p:sp>
        <p:nvSpPr>
          <p:cNvPr id="47" name="Text 36"/>
          <p:cNvSpPr/>
          <p:nvPr/>
        </p:nvSpPr>
        <p:spPr>
          <a:xfrm>
            <a:off x="7269480" y="5452110"/>
            <a:ext cx="41605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scale with patient rarity — rare profiles command higher fees, still cheaper than status quo.</a:t>
            </a:r>
            <a:endParaRPr lang="en-US" sz="1050"/>
          </a:p>
        </p:txBody>
      </p:sp>
      <p:sp>
        <p:nvSpPr>
          <p:cNvPr id="48" name="Shape 3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incentives: </a:t>
            </a:r>
            <a:r>
              <a:rPr lang="en-US" sz="12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get discovery, clinics get enrollment, sponsors get ROI — and we monetize the match.</a:t>
            </a:r>
            <a:endParaRPr lang="en-US" sz="1200"/>
          </a:p>
        </p:txBody>
      </p:sp>
      <p:sp>
        <p:nvSpPr>
          <p:cNvPr id="50" name="Shape 3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52" name="Text 41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3 / 6</a:t>
            </a:r>
            <a:endParaRPr lang="en-US" sz="90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browser agents across virtually any trial source.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explainable list of matching trials — returned to the patient in minutes, not months.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28600" dist="508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194767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194767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94767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63040" y="1920240"/>
            <a:ext cx="402336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trialfind.app  /  search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Query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822960" y="26060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6F8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444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cancer, Stage II, Minneapolis MN, HER2+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822960" y="320040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60120" y="33284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4300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matches  </a:t>
            </a:r>
            <a:r>
              <a:rPr lang="en-US" sz="100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185s across 7 sources — ranked by match score</a:t>
            </a:r>
            <a:endParaRPr lang="en-US" sz="1000"/>
          </a:p>
        </p:txBody>
      </p:sp>
      <p:sp>
        <p:nvSpPr>
          <p:cNvPr id="20" name="Shape 17"/>
          <p:cNvSpPr/>
          <p:nvPr/>
        </p:nvSpPr>
        <p:spPr>
          <a:xfrm>
            <a:off x="822960" y="37490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32688" y="3886200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32688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16916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Anderson — Neoadjuvant HER2+ Protocol</a:t>
            </a:r>
            <a:endParaRPr lang="en-US" sz="1100"/>
          </a:p>
        </p:txBody>
      </p:sp>
      <p:sp>
        <p:nvSpPr>
          <p:cNvPr id="24" name="Text 21"/>
          <p:cNvSpPr/>
          <p:nvPr/>
        </p:nvSpPr>
        <p:spPr>
          <a:xfrm>
            <a:off x="1691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mdanderson.org</a:t>
            </a:r>
            <a:endParaRPr lang="en-US" sz="900"/>
          </a:p>
        </p:txBody>
      </p:sp>
      <p:sp>
        <p:nvSpPr>
          <p:cNvPr id="25" name="Shape 22"/>
          <p:cNvSpPr/>
          <p:nvPr/>
        </p:nvSpPr>
        <p:spPr>
          <a:xfrm>
            <a:off x="4526280" y="393192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F6F8FC"/>
          </a:solidFill>
          <a:ln w="635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26280" y="3931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</a:t>
            </a:r>
            <a:endParaRPr lang="en-US" sz="900"/>
          </a:p>
        </p:txBody>
      </p:sp>
      <p:sp>
        <p:nvSpPr>
          <p:cNvPr id="27" name="Shape 24"/>
          <p:cNvSpPr/>
          <p:nvPr/>
        </p:nvSpPr>
        <p:spPr>
          <a:xfrm>
            <a:off x="822960" y="452628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32688" y="4663440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32688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300"/>
          </a:p>
        </p:txBody>
      </p:sp>
      <p:sp>
        <p:nvSpPr>
          <p:cNvPr id="30" name="Text 27"/>
          <p:cNvSpPr/>
          <p:nvPr/>
        </p:nvSpPr>
        <p:spPr>
          <a:xfrm>
            <a:off x="16916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Clinic — Phase II, Trastuzumab + Pembro</a:t>
            </a:r>
            <a:endParaRPr lang="en-US" sz="1100"/>
          </a:p>
        </p:txBody>
      </p:sp>
      <p:sp>
        <p:nvSpPr>
          <p:cNvPr id="31" name="Text 28"/>
          <p:cNvSpPr/>
          <p:nvPr/>
        </p:nvSpPr>
        <p:spPr>
          <a:xfrm>
            <a:off x="16916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mayoclinic.org</a:t>
            </a:r>
            <a:endParaRPr lang="en-US" sz="900"/>
          </a:p>
        </p:txBody>
      </p:sp>
      <p:sp>
        <p:nvSpPr>
          <p:cNvPr id="32" name="Shape 29"/>
          <p:cNvSpPr/>
          <p:nvPr/>
        </p:nvSpPr>
        <p:spPr>
          <a:xfrm>
            <a:off x="4526280" y="470916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F6F8FC"/>
          </a:solidFill>
          <a:ln w="635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26280" y="47091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</a:t>
            </a:r>
            <a:endParaRPr lang="en-US" sz="900"/>
          </a:p>
        </p:txBody>
      </p:sp>
      <p:sp>
        <p:nvSpPr>
          <p:cNvPr id="34" name="Shape 31"/>
          <p:cNvSpPr/>
          <p:nvPr/>
        </p:nvSpPr>
        <p:spPr>
          <a:xfrm>
            <a:off x="822960" y="530352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32688" y="5440680"/>
            <a:ext cx="640080" cy="411480"/>
          </a:xfrm>
          <a:prstGeom prst="roundRect">
            <a:avLst>
              <a:gd name="adj" fmla="val 15556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32688" y="5440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300"/>
          </a:p>
        </p:txBody>
      </p:sp>
      <p:sp>
        <p:nvSpPr>
          <p:cNvPr id="37" name="Text 34"/>
          <p:cNvSpPr/>
          <p:nvPr/>
        </p:nvSpPr>
        <p:spPr>
          <a:xfrm>
            <a:off x="169164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Oncology Network — Rochester MN</a:t>
            </a:r>
            <a:endParaRPr lang="en-US" sz="1100"/>
          </a:p>
        </p:txBody>
      </p:sp>
      <p:sp>
        <p:nvSpPr>
          <p:cNvPr id="38" name="Text 35"/>
          <p:cNvSpPr/>
          <p:nvPr/>
        </p:nvSpPr>
        <p:spPr>
          <a:xfrm>
            <a:off x="1691640" y="5669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pharma-sponsor.com</a:t>
            </a:r>
            <a:endParaRPr lang="en-US" sz="900"/>
          </a:p>
        </p:txBody>
      </p:sp>
      <p:sp>
        <p:nvSpPr>
          <p:cNvPr id="39" name="Shape 36"/>
          <p:cNvSpPr/>
          <p:nvPr/>
        </p:nvSpPr>
        <p:spPr>
          <a:xfrm>
            <a:off x="4526280" y="5486400"/>
            <a:ext cx="777240" cy="320040"/>
          </a:xfrm>
          <a:prstGeom prst="roundRect">
            <a:avLst>
              <a:gd name="adj" fmla="val 17143"/>
            </a:avLst>
          </a:prstGeom>
          <a:solidFill>
            <a:srgbClr val="F6F8FC"/>
          </a:solidFill>
          <a:ln w="635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526280" y="5486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</a:t>
            </a:r>
            <a:endParaRPr lang="en-US" sz="900"/>
          </a:p>
        </p:txBody>
      </p:sp>
      <p:sp>
        <p:nvSpPr>
          <p:cNvPr id="41" name="Shape 38"/>
          <p:cNvSpPr/>
          <p:nvPr/>
        </p:nvSpPr>
        <p:spPr>
          <a:xfrm>
            <a:off x="5897880" y="1828800"/>
            <a:ext cx="571500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080760" y="1984248"/>
            <a:ext cx="548640" cy="5486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093976"/>
            <a:ext cx="329184" cy="32918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766560" y="19385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TinyFish Browser Agents</a:t>
            </a:r>
            <a:endParaRPr lang="en-US" sz="1300"/>
          </a:p>
        </p:txBody>
      </p:sp>
      <p:sp>
        <p:nvSpPr>
          <p:cNvPr id="45" name="Text 41"/>
          <p:cNvSpPr/>
          <p:nvPr/>
        </p:nvSpPr>
        <p:spPr>
          <a:xfrm>
            <a:off x="6766560" y="223113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across hospital sites, regional registries, and pharma pages — not just APIs.</a:t>
            </a:r>
            <a:endParaRPr lang="en-US" sz="1050"/>
          </a:p>
        </p:txBody>
      </p:sp>
      <p:sp>
        <p:nvSpPr>
          <p:cNvPr id="46" name="Shape 42"/>
          <p:cNvSpPr/>
          <p:nvPr/>
        </p:nvSpPr>
        <p:spPr>
          <a:xfrm>
            <a:off x="5897880" y="2743200"/>
            <a:ext cx="571500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6080760" y="2898648"/>
            <a:ext cx="548640" cy="548640"/>
          </a:xfrm>
          <a:prstGeom prst="ellipse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008376"/>
            <a:ext cx="329184" cy="329184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6766560" y="28529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Database to the Open Web</a:t>
            </a:r>
            <a:endParaRPr lang="en-US" sz="1300"/>
          </a:p>
        </p:txBody>
      </p:sp>
      <p:sp>
        <p:nvSpPr>
          <p:cNvPr id="50" name="Text 45"/>
          <p:cNvSpPr/>
          <p:nvPr/>
        </p:nvSpPr>
        <p:spPr>
          <a:xfrm>
            <a:off x="6766560" y="314553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beyond free API sources to virtually any site hosting trial information.</a:t>
            </a:r>
            <a:endParaRPr lang="en-US" sz="1050"/>
          </a:p>
        </p:txBody>
      </p:sp>
      <p:sp>
        <p:nvSpPr>
          <p:cNvPr id="51" name="Shape 46"/>
          <p:cNvSpPr/>
          <p:nvPr/>
        </p:nvSpPr>
        <p:spPr>
          <a:xfrm>
            <a:off x="5897880" y="3657600"/>
            <a:ext cx="571500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6080760" y="3813048"/>
            <a:ext cx="548640" cy="5486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922776"/>
            <a:ext cx="329184" cy="329184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6766560" y="3767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Patient-First UX</a:t>
            </a:r>
            <a:endParaRPr lang="en-US" sz="1300"/>
          </a:p>
        </p:txBody>
      </p:sp>
      <p:sp>
        <p:nvSpPr>
          <p:cNvPr id="55" name="Text 49"/>
          <p:cNvSpPr/>
          <p:nvPr/>
        </p:nvSpPr>
        <p:spPr>
          <a:xfrm>
            <a:off x="6766560" y="405993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 and direct application paths — not dense eligibility walls.</a:t>
            </a:r>
            <a:endParaRPr lang="en-US" sz="1050"/>
          </a:p>
        </p:txBody>
      </p:sp>
      <p:sp>
        <p:nvSpPr>
          <p:cNvPr id="56" name="Shape 50"/>
          <p:cNvSpPr/>
          <p:nvPr/>
        </p:nvSpPr>
        <p:spPr>
          <a:xfrm>
            <a:off x="5897880" y="4572000"/>
            <a:ext cx="571500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1"/>
          <p:cNvSpPr/>
          <p:nvPr/>
        </p:nvSpPr>
        <p:spPr>
          <a:xfrm>
            <a:off x="6080760" y="4727448"/>
            <a:ext cx="548640" cy="548640"/>
          </a:xfrm>
          <a:prstGeom prst="ellipse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4837176"/>
            <a:ext cx="329184" cy="329184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6766560" y="46817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Pipeline</a:t>
            </a:r>
            <a:endParaRPr lang="en-US" sz="1300"/>
          </a:p>
        </p:txBody>
      </p:sp>
      <p:sp>
        <p:nvSpPr>
          <p:cNvPr id="60" name="Text 53"/>
          <p:cNvSpPr/>
          <p:nvPr/>
        </p:nvSpPr>
        <p:spPr>
          <a:xfrm>
            <a:off x="6766560" y="497433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today? Profiles are securely re-queried against new trials, with email alerts on match.</a:t>
            </a:r>
            <a:endParaRPr lang="en-US" sz="1050"/>
          </a:p>
        </p:txBody>
      </p:sp>
      <p:sp>
        <p:nvSpPr>
          <p:cNvPr id="61" name="Shape 54"/>
          <p:cNvSpPr/>
          <p:nvPr/>
        </p:nvSpPr>
        <p:spPr>
          <a:xfrm>
            <a:off x="5897880" y="5486400"/>
            <a:ext cx="571500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5"/>
          <p:cNvSpPr/>
          <p:nvPr/>
        </p:nvSpPr>
        <p:spPr>
          <a:xfrm>
            <a:off x="6080760" y="5641848"/>
            <a:ext cx="548640" cy="5486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5751576"/>
            <a:ext cx="329184" cy="329184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766560" y="55961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Partnership-Ready</a:t>
            </a:r>
            <a:endParaRPr lang="en-US" sz="1300"/>
          </a:p>
        </p:txBody>
      </p:sp>
      <p:sp>
        <p:nvSpPr>
          <p:cNvPr id="65" name="Text 57"/>
          <p:cNvSpPr/>
          <p:nvPr/>
        </p:nvSpPr>
        <p:spPr>
          <a:xfrm>
            <a:off x="6766560" y="5888736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complements TrialGPT and OncoLLM — we extend reach, not replace them.</a:t>
            </a:r>
            <a:endParaRPr lang="en-US" sz="1050"/>
          </a:p>
        </p:txBody>
      </p:sp>
      <p:sp>
        <p:nvSpPr>
          <p:cNvPr id="66" name="Shape 5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68" name="Text 60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4 / 6</a:t>
            </a:r>
            <a:endParaRPr lang="en-US" sz="9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22" presetClass="entr" presetSubtype="4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4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3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9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" presetID="22" presetClass="entr" presetSubtype="4" fill="hold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2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5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8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2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4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8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0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1" presetID="22" presetClass="entr" presetSubtype="4" fill="hold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3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4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6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7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9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0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2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3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5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6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8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9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presetID="42" presetClass="entr" presetSubtype="4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5" dur="500" fill="hold"/>
                                  <p:tgtEl>
                                    <p:spTgt spid="4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26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29" dur="500" fill="hold"/>
                                  <p:tgtEl>
                                    <p:spTgt spid="4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0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1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3" dur="500" fill="hold"/>
                                  <p:tgtEl>
                                    <p:spTgt spid="4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4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5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37" dur="500" fill="hold"/>
                                  <p:tgtEl>
                                    <p:spTgt spid="4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38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1" dur="500" fill="hold"/>
                                  <p:tgtEl>
                                    <p:spTgt spid="4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2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3" presetID="42" presetClass="entr" presetSubtype="4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5" dur="500" fill="hold"/>
                                  <p:tgtEl>
                                    <p:spTgt spid="4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46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7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9" dur="500" fill="hold"/>
                                  <p:tgtEl>
                                    <p:spTgt spid="4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0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3" dur="500" fill="hold"/>
                                  <p:tgtEl>
                                    <p:spTgt spid="4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4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5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57" dur="500" fill="hold"/>
                                  <p:tgtEl>
                                    <p:spTgt spid="4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58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9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1" dur="500" fill="hold"/>
                                  <p:tgtEl>
                                    <p:spTgt spid="5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2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42" presetClass="entr" presetSubtype="4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5" dur="500" fill="hold"/>
                                  <p:tgtEl>
                                    <p:spTgt spid="5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66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7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69" dur="500" fill="hold"/>
                                  <p:tgtEl>
                                    <p:spTgt spid="5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0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1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3" dur="500" fill="hold"/>
                                  <p:tgtEl>
                                    <p:spTgt spid="5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4" dur="5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77" dur="500" fill="hold"/>
                                  <p:tgtEl>
                                    <p:spTgt spid="5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78" dur="5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9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1" dur="500" fill="hold"/>
                                  <p:tgtEl>
                                    <p:spTgt spid="5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2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3" presetID="42" presetClass="entr" presetSubtype="4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5" dur="500" fill="hold"/>
                                  <p:tgtEl>
                                    <p:spTgt spid="5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86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7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9" dur="500" fill="hold"/>
                                  <p:tgtEl>
                                    <p:spTgt spid="5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0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1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3" dur="500" fill="hold"/>
                                  <p:tgtEl>
                                    <p:spTgt spid="5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4" dur="5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5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97" dur="500" fill="hold"/>
                                  <p:tgtEl>
                                    <p:spTgt spid="5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98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9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1" dur="500" fill="hold"/>
                                  <p:tgtEl>
                                    <p:spTgt spid="6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2" dur="5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3" presetID="42" presetClass="entr" presetSubtype="4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5" dur="500" fill="hold"/>
                                  <p:tgtEl>
                                    <p:spTgt spid="6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06" dur="5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7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09" dur="500" fill="hold"/>
                                  <p:tgtEl>
                                    <p:spTgt spid="6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0" dur="5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1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3" dur="500" fill="hold"/>
                                  <p:tgtEl>
                                    <p:spTgt spid="6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4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5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17" dur="500" fill="hold"/>
                                  <p:tgtEl>
                                    <p:spTgt spid="6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18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9" presetID="4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1" dur="500" fill="hold"/>
                                  <p:tgtEl>
                                    <p:spTgt spid="6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1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222" dur="5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3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5" dur="4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8" dur="4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0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" y="425196"/>
            <a:ext cx="1823314" cy="274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workflow with tools and parallelization.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patient query fans out across the web, then fans back into one ranked, deduplicated list.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25066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993392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786" y="1993392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331720"/>
            <a:ext cx="1795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INTAKE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713232" y="2523744"/>
            <a:ext cx="1795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or form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 rot="5400000">
            <a:off x="2682850" y="2176272"/>
            <a:ext cx="91440" cy="18288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83434" y="1828800"/>
            <a:ext cx="2125066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948026" y="1993392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948026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579" y="199339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48026" y="2331720"/>
            <a:ext cx="1795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PLANNING</a:t>
            </a:r>
            <a:endParaRPr lang="en-US" sz="1000"/>
          </a:p>
        </p:txBody>
      </p:sp>
      <p:sp>
        <p:nvSpPr>
          <p:cNvPr id="18" name="Text 14"/>
          <p:cNvSpPr/>
          <p:nvPr/>
        </p:nvSpPr>
        <p:spPr>
          <a:xfrm>
            <a:off x="2948026" y="2523744"/>
            <a:ext cx="1795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sources</a:t>
            </a:r>
            <a:endParaRPr lang="en-US" sz="900"/>
          </a:p>
        </p:txBody>
      </p:sp>
      <p:sp>
        <p:nvSpPr>
          <p:cNvPr id="19" name="Shape 15"/>
          <p:cNvSpPr/>
          <p:nvPr/>
        </p:nvSpPr>
        <p:spPr>
          <a:xfrm rot="5400000">
            <a:off x="4917643" y="2176272"/>
            <a:ext cx="91440" cy="18288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018227" y="1828800"/>
            <a:ext cx="2125066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182819" y="1993392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82819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373" y="199339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82819" y="2331720"/>
            <a:ext cx="1795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RETRIEVAL</a:t>
            </a:r>
            <a:endParaRPr lang="en-US" sz="1000"/>
          </a:p>
        </p:txBody>
      </p:sp>
      <p:sp>
        <p:nvSpPr>
          <p:cNvPr id="25" name="Text 20"/>
          <p:cNvSpPr/>
          <p:nvPr/>
        </p:nvSpPr>
        <p:spPr>
          <a:xfrm>
            <a:off x="5182819" y="2523744"/>
            <a:ext cx="1795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+ APIs</a:t>
            </a:r>
            <a:endParaRPr lang="en-US" sz="900"/>
          </a:p>
        </p:txBody>
      </p:sp>
      <p:sp>
        <p:nvSpPr>
          <p:cNvPr id="26" name="Shape 21"/>
          <p:cNvSpPr/>
          <p:nvPr/>
        </p:nvSpPr>
        <p:spPr>
          <a:xfrm rot="5400000">
            <a:off x="7152437" y="2176272"/>
            <a:ext cx="91440" cy="18288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253021" y="1828800"/>
            <a:ext cx="2125066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7417613" y="1993392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417613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5166" y="1993392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17613" y="2331720"/>
            <a:ext cx="1795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SUMMARIZE</a:t>
            </a:r>
            <a:endParaRPr lang="en-US" sz="1000"/>
          </a:p>
        </p:txBody>
      </p:sp>
      <p:sp>
        <p:nvSpPr>
          <p:cNvPr id="32" name="Text 26"/>
          <p:cNvSpPr/>
          <p:nvPr/>
        </p:nvSpPr>
        <p:spPr>
          <a:xfrm>
            <a:off x="7417613" y="2523744"/>
            <a:ext cx="1795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ground</a:t>
            </a:r>
            <a:endParaRPr lang="en-US" sz="900"/>
          </a:p>
        </p:txBody>
      </p:sp>
      <p:sp>
        <p:nvSpPr>
          <p:cNvPr id="33" name="Shape 27"/>
          <p:cNvSpPr/>
          <p:nvPr/>
        </p:nvSpPr>
        <p:spPr>
          <a:xfrm rot="5400000">
            <a:off x="9387230" y="2176272"/>
            <a:ext cx="91440" cy="18288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9487814" y="1828800"/>
            <a:ext cx="2125066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9652406" y="1993392"/>
            <a:ext cx="320040" cy="3200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9652406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993392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652406" y="2331720"/>
            <a:ext cx="1795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000"/>
          </a:p>
        </p:txBody>
      </p:sp>
      <p:sp>
        <p:nvSpPr>
          <p:cNvPr id="39" name="Text 32"/>
          <p:cNvSpPr/>
          <p:nvPr/>
        </p:nvSpPr>
        <p:spPr>
          <a:xfrm>
            <a:off x="9652406" y="2523744"/>
            <a:ext cx="1795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list</a:t>
            </a:r>
            <a:endParaRPr lang="en-US" sz="900"/>
          </a:p>
        </p:txBody>
      </p:sp>
      <p:sp>
        <p:nvSpPr>
          <p:cNvPr id="40" name="Shape 33"/>
          <p:cNvSpPr/>
          <p:nvPr/>
        </p:nvSpPr>
        <p:spPr>
          <a:xfrm>
            <a:off x="548640" y="2926080"/>
            <a:ext cx="11064240" cy="2880360"/>
          </a:xfrm>
          <a:prstGeom prst="rect">
            <a:avLst/>
          </a:prstGeom>
          <a:solidFill>
            <a:srgbClr val="F6F8FC"/>
          </a:solidFill>
          <a:ln w="9525">
            <a:solidFill>
              <a:srgbClr val="E2E8F0"/>
            </a:solidFill>
            <a:prstDash val="solid"/>
          </a:ln>
          <a:effectLst>
            <a:outerShdw blurRad="2286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68580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 / FAN-IN</a:t>
            </a:r>
            <a:endParaRPr lang="en-US" sz="900"/>
          </a:p>
        </p:txBody>
      </p:sp>
      <p:sp>
        <p:nvSpPr>
          <p:cNvPr id="42" name="Text 35"/>
          <p:cNvSpPr/>
          <p:nvPr/>
        </p:nvSpPr>
        <p:spPr>
          <a:xfrm>
            <a:off x="726034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/>
          </a:p>
        </p:txBody>
      </p:sp>
      <p:sp>
        <p:nvSpPr>
          <p:cNvPr id="43" name="Text 36"/>
          <p:cNvSpPr/>
          <p:nvPr/>
        </p:nvSpPr>
        <p:spPr>
          <a:xfrm>
            <a:off x="2776118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800"/>
          </a:p>
        </p:txBody>
      </p:sp>
      <p:sp>
        <p:nvSpPr>
          <p:cNvPr id="44" name="Text 37"/>
          <p:cNvSpPr/>
          <p:nvPr/>
        </p:nvSpPr>
        <p:spPr>
          <a:xfrm>
            <a:off x="5689397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800"/>
          </a:p>
        </p:txBody>
      </p:sp>
      <p:sp>
        <p:nvSpPr>
          <p:cNvPr id="45" name="Text 38"/>
          <p:cNvSpPr/>
          <p:nvPr/>
        </p:nvSpPr>
        <p:spPr>
          <a:xfrm>
            <a:off x="8494776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800"/>
          </a:p>
        </p:txBody>
      </p:sp>
      <p:sp>
        <p:nvSpPr>
          <p:cNvPr id="46" name="Text 39"/>
          <p:cNvSpPr/>
          <p:nvPr/>
        </p:nvSpPr>
        <p:spPr>
          <a:xfrm>
            <a:off x="10005365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/>
          </a:p>
        </p:txBody>
      </p:sp>
      <p:sp>
        <p:nvSpPr>
          <p:cNvPr id="47" name="Shape 40"/>
          <p:cNvSpPr/>
          <p:nvPr/>
        </p:nvSpPr>
        <p:spPr>
          <a:xfrm>
            <a:off x="954634" y="393192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506" y="4069080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384402" y="4023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/>
          </a:p>
        </p:txBody>
      </p:sp>
      <p:sp>
        <p:nvSpPr>
          <p:cNvPr id="50" name="Text 42"/>
          <p:cNvSpPr/>
          <p:nvPr/>
        </p:nvSpPr>
        <p:spPr>
          <a:xfrm>
            <a:off x="954634" y="4709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 •  Form</a:t>
            </a:r>
            <a:endParaRPr lang="en-US" sz="800"/>
          </a:p>
        </p:txBody>
      </p:sp>
      <p:sp>
        <p:nvSpPr>
          <p:cNvPr id="51" name="Shape 43"/>
          <p:cNvSpPr/>
          <p:nvPr/>
        </p:nvSpPr>
        <p:spPr>
          <a:xfrm>
            <a:off x="2958998" y="39319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726" y="4069080"/>
            <a:ext cx="274320" cy="27432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3397910" y="4023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/>
          </a:p>
        </p:txBody>
      </p:sp>
      <p:sp>
        <p:nvSpPr>
          <p:cNvPr id="54" name="Text 45"/>
          <p:cNvSpPr/>
          <p:nvPr/>
        </p:nvSpPr>
        <p:spPr>
          <a:xfrm>
            <a:off x="2821838" y="47091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sources + tool path</a:t>
            </a:r>
            <a:endParaRPr lang="en-US" sz="800"/>
          </a:p>
        </p:txBody>
      </p:sp>
      <p:sp>
        <p:nvSpPr>
          <p:cNvPr id="55" name="Shape 46"/>
          <p:cNvSpPr/>
          <p:nvPr/>
        </p:nvSpPr>
        <p:spPr>
          <a:xfrm>
            <a:off x="2143354" y="4297680"/>
            <a:ext cx="815645" cy="9144"/>
          </a:xfrm>
          <a:prstGeom prst="line">
            <a:avLst/>
          </a:prstGeom>
          <a:noFill/>
          <a:ln w="19050">
            <a:solidFill>
              <a:srgbClr val="7C6AE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4912157" y="3268980"/>
            <a:ext cx="3200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0EA5A4"/>
            </a:solidFill>
            <a:prstDash val="dash"/>
          </a:ln>
          <a:effectLst>
            <a:outerShdw blurRad="2286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/>
          <p:nvPr/>
        </p:nvSpPr>
        <p:spPr>
          <a:xfrm>
            <a:off x="4912157" y="53629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threads  •  Tool-calling  •  Autonomous</a:t>
            </a:r>
            <a:endParaRPr lang="en-US" sz="800"/>
          </a:p>
        </p:txBody>
      </p:sp>
      <p:sp>
        <p:nvSpPr>
          <p:cNvPr id="58" name="Shape 49"/>
          <p:cNvSpPr/>
          <p:nvPr/>
        </p:nvSpPr>
        <p:spPr>
          <a:xfrm>
            <a:off x="5003597" y="3433572"/>
            <a:ext cx="3017520" cy="301752"/>
          </a:xfrm>
          <a:prstGeom prst="roundRect">
            <a:avLst>
              <a:gd name="adj" fmla="val 15152"/>
            </a:avLst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5037" y="3488436"/>
            <a:ext cx="201168" cy="20116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5351069" y="34335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agent</a:t>
            </a:r>
            <a:endParaRPr lang="en-US" sz="950"/>
          </a:p>
        </p:txBody>
      </p:sp>
      <p:sp>
        <p:nvSpPr>
          <p:cNvPr id="61" name="Shape 51"/>
          <p:cNvSpPr/>
          <p:nvPr/>
        </p:nvSpPr>
        <p:spPr>
          <a:xfrm>
            <a:off x="6740957" y="3470148"/>
            <a:ext cx="126187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2"/>
          <p:cNvSpPr/>
          <p:nvPr/>
        </p:nvSpPr>
        <p:spPr>
          <a:xfrm>
            <a:off x="6740957" y="347014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API</a:t>
            </a:r>
            <a:endParaRPr lang="en-US" sz="850"/>
          </a:p>
        </p:txBody>
      </p:sp>
      <p:sp>
        <p:nvSpPr>
          <p:cNvPr id="63" name="Shape 53"/>
          <p:cNvSpPr/>
          <p:nvPr/>
        </p:nvSpPr>
        <p:spPr>
          <a:xfrm flipV="1">
            <a:off x="4239158" y="3584448"/>
            <a:ext cx="764438" cy="713232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4"/>
          <p:cNvSpPr/>
          <p:nvPr/>
        </p:nvSpPr>
        <p:spPr>
          <a:xfrm>
            <a:off x="8021117" y="3584448"/>
            <a:ext cx="793699" cy="713232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5"/>
          <p:cNvSpPr/>
          <p:nvPr/>
        </p:nvSpPr>
        <p:spPr>
          <a:xfrm>
            <a:off x="5003597" y="3790188"/>
            <a:ext cx="3017520" cy="301752"/>
          </a:xfrm>
          <a:prstGeom prst="roundRect">
            <a:avLst>
              <a:gd name="adj" fmla="val 15152"/>
            </a:avLst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5037" y="3845052"/>
            <a:ext cx="201168" cy="201168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5351069" y="379018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browser</a:t>
            </a:r>
            <a:endParaRPr lang="en-US" sz="950"/>
          </a:p>
        </p:txBody>
      </p:sp>
      <p:sp>
        <p:nvSpPr>
          <p:cNvPr id="68" name="Shape 57"/>
          <p:cNvSpPr/>
          <p:nvPr/>
        </p:nvSpPr>
        <p:spPr>
          <a:xfrm>
            <a:off x="6740957" y="3826764"/>
            <a:ext cx="126187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8"/>
          <p:cNvSpPr/>
          <p:nvPr/>
        </p:nvSpPr>
        <p:spPr>
          <a:xfrm>
            <a:off x="6740957" y="3826764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site A</a:t>
            </a:r>
            <a:endParaRPr lang="en-US" sz="850"/>
          </a:p>
        </p:txBody>
      </p:sp>
      <p:sp>
        <p:nvSpPr>
          <p:cNvPr id="70" name="Shape 59"/>
          <p:cNvSpPr/>
          <p:nvPr/>
        </p:nvSpPr>
        <p:spPr>
          <a:xfrm flipV="1">
            <a:off x="4239158" y="3941064"/>
            <a:ext cx="764438" cy="356616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0"/>
          <p:cNvSpPr/>
          <p:nvPr/>
        </p:nvSpPr>
        <p:spPr>
          <a:xfrm>
            <a:off x="8021117" y="3941064"/>
            <a:ext cx="793699" cy="356616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1"/>
          <p:cNvSpPr/>
          <p:nvPr/>
        </p:nvSpPr>
        <p:spPr>
          <a:xfrm>
            <a:off x="5003597" y="4146804"/>
            <a:ext cx="3017520" cy="301752"/>
          </a:xfrm>
          <a:prstGeom prst="roundRect">
            <a:avLst>
              <a:gd name="adj" fmla="val 15152"/>
            </a:avLst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5037" y="4201668"/>
            <a:ext cx="201168" cy="201168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5351069" y="414680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browser</a:t>
            </a:r>
            <a:endParaRPr lang="en-US" sz="950"/>
          </a:p>
        </p:txBody>
      </p:sp>
      <p:sp>
        <p:nvSpPr>
          <p:cNvPr id="75" name="Shape 63"/>
          <p:cNvSpPr/>
          <p:nvPr/>
        </p:nvSpPr>
        <p:spPr>
          <a:xfrm>
            <a:off x="6740957" y="4183380"/>
            <a:ext cx="126187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4"/>
          <p:cNvSpPr/>
          <p:nvPr/>
        </p:nvSpPr>
        <p:spPr>
          <a:xfrm>
            <a:off x="6740957" y="418338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registry B</a:t>
            </a:r>
            <a:endParaRPr lang="en-US" sz="850"/>
          </a:p>
        </p:txBody>
      </p:sp>
      <p:sp>
        <p:nvSpPr>
          <p:cNvPr id="77" name="Shape 65"/>
          <p:cNvSpPr/>
          <p:nvPr/>
        </p:nvSpPr>
        <p:spPr>
          <a:xfrm>
            <a:off x="4239158" y="4297680"/>
            <a:ext cx="764438" cy="9144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6"/>
          <p:cNvSpPr/>
          <p:nvPr/>
        </p:nvSpPr>
        <p:spPr>
          <a:xfrm>
            <a:off x="8021117" y="4297680"/>
            <a:ext cx="793699" cy="9144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67"/>
          <p:cNvSpPr/>
          <p:nvPr/>
        </p:nvSpPr>
        <p:spPr>
          <a:xfrm>
            <a:off x="5003597" y="4503420"/>
            <a:ext cx="3017520" cy="301752"/>
          </a:xfrm>
          <a:prstGeom prst="roundRect">
            <a:avLst>
              <a:gd name="adj" fmla="val 15152"/>
            </a:avLst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5037" y="4558284"/>
            <a:ext cx="201168" cy="201168"/>
          </a:xfrm>
          <a:prstGeom prst="rect">
            <a:avLst/>
          </a:prstGeom>
        </p:spPr>
      </p:pic>
      <p:sp>
        <p:nvSpPr>
          <p:cNvPr id="81" name="Text 68"/>
          <p:cNvSpPr/>
          <p:nvPr/>
        </p:nvSpPr>
        <p:spPr>
          <a:xfrm>
            <a:off x="5351069" y="45034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browser</a:t>
            </a:r>
            <a:endParaRPr lang="en-US" sz="950"/>
          </a:p>
        </p:txBody>
      </p:sp>
      <p:sp>
        <p:nvSpPr>
          <p:cNvPr id="82" name="Shape 69"/>
          <p:cNvSpPr/>
          <p:nvPr/>
        </p:nvSpPr>
        <p:spPr>
          <a:xfrm>
            <a:off x="6740957" y="4539996"/>
            <a:ext cx="126187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0"/>
          <p:cNvSpPr/>
          <p:nvPr/>
        </p:nvSpPr>
        <p:spPr>
          <a:xfrm>
            <a:off x="6740957" y="4539996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sponsor C</a:t>
            </a:r>
            <a:endParaRPr lang="en-US" sz="850"/>
          </a:p>
        </p:txBody>
      </p:sp>
      <p:sp>
        <p:nvSpPr>
          <p:cNvPr id="84" name="Shape 71"/>
          <p:cNvSpPr/>
          <p:nvPr/>
        </p:nvSpPr>
        <p:spPr>
          <a:xfrm>
            <a:off x="4239158" y="4297680"/>
            <a:ext cx="764438" cy="356616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72"/>
          <p:cNvSpPr/>
          <p:nvPr/>
        </p:nvSpPr>
        <p:spPr>
          <a:xfrm flipV="1">
            <a:off x="8021117" y="4297680"/>
            <a:ext cx="793699" cy="356616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3"/>
          <p:cNvSpPr/>
          <p:nvPr/>
        </p:nvSpPr>
        <p:spPr>
          <a:xfrm>
            <a:off x="5003597" y="4860036"/>
            <a:ext cx="3017520" cy="301752"/>
          </a:xfrm>
          <a:prstGeom prst="roundRect">
            <a:avLst>
              <a:gd name="adj" fmla="val 15152"/>
            </a:avLst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5037" y="4914900"/>
            <a:ext cx="201168" cy="201168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5351069" y="486003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browser</a:t>
            </a:r>
            <a:endParaRPr lang="en-US" sz="950"/>
          </a:p>
        </p:txBody>
      </p:sp>
      <p:sp>
        <p:nvSpPr>
          <p:cNvPr id="89" name="Shape 75"/>
          <p:cNvSpPr/>
          <p:nvPr/>
        </p:nvSpPr>
        <p:spPr>
          <a:xfrm>
            <a:off x="6740957" y="4896612"/>
            <a:ext cx="1261872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76"/>
          <p:cNvSpPr/>
          <p:nvPr/>
        </p:nvSpPr>
        <p:spPr>
          <a:xfrm>
            <a:off x="6740957" y="48966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portal D</a:t>
            </a:r>
            <a:endParaRPr lang="en-US" sz="850"/>
          </a:p>
        </p:txBody>
      </p:sp>
      <p:sp>
        <p:nvSpPr>
          <p:cNvPr id="91" name="Shape 77"/>
          <p:cNvSpPr/>
          <p:nvPr/>
        </p:nvSpPr>
        <p:spPr>
          <a:xfrm>
            <a:off x="4239158" y="4297680"/>
            <a:ext cx="764438" cy="713232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78"/>
          <p:cNvSpPr/>
          <p:nvPr/>
        </p:nvSpPr>
        <p:spPr>
          <a:xfrm flipV="1">
            <a:off x="8021117" y="4297680"/>
            <a:ext cx="793699" cy="713232"/>
          </a:xfrm>
          <a:prstGeom prst="line">
            <a:avLst/>
          </a:prstGeom>
          <a:noFill/>
          <a:ln w="12700">
            <a:solidFill>
              <a:srgbClr val="0EA5A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79"/>
          <p:cNvSpPr/>
          <p:nvPr/>
        </p:nvSpPr>
        <p:spPr>
          <a:xfrm>
            <a:off x="8814816" y="39319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2288" y="4142232"/>
            <a:ext cx="310896" cy="310896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8814816" y="44622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Rank</a:t>
            </a:r>
            <a:endParaRPr lang="en-US" sz="850"/>
          </a:p>
        </p:txBody>
      </p:sp>
      <p:sp>
        <p:nvSpPr>
          <p:cNvPr id="96" name="Text 81"/>
          <p:cNvSpPr/>
          <p:nvPr/>
        </p:nvSpPr>
        <p:spPr>
          <a:xfrm>
            <a:off x="8540496" y="47091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• Score • Ground</a:t>
            </a:r>
            <a:endParaRPr lang="en-US" sz="800"/>
          </a:p>
        </p:txBody>
      </p:sp>
      <p:sp>
        <p:nvSpPr>
          <p:cNvPr id="97" name="Shape 82"/>
          <p:cNvSpPr/>
          <p:nvPr/>
        </p:nvSpPr>
        <p:spPr>
          <a:xfrm>
            <a:off x="10325405" y="39319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8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63733" y="4133088"/>
            <a:ext cx="329184" cy="329184"/>
          </a:xfrm>
          <a:prstGeom prst="rect">
            <a:avLst/>
          </a:prstGeom>
        </p:spPr>
      </p:pic>
      <p:sp>
        <p:nvSpPr>
          <p:cNvPr id="99" name="Text 83"/>
          <p:cNvSpPr/>
          <p:nvPr/>
        </p:nvSpPr>
        <p:spPr>
          <a:xfrm>
            <a:off x="10051085" y="47091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87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trials</a:t>
            </a:r>
            <a:endParaRPr lang="en-US" sz="900"/>
          </a:p>
        </p:txBody>
      </p:sp>
      <p:sp>
        <p:nvSpPr>
          <p:cNvPr id="100" name="Shape 84"/>
          <p:cNvSpPr/>
          <p:nvPr/>
        </p:nvSpPr>
        <p:spPr>
          <a:xfrm>
            <a:off x="9820656" y="4297680"/>
            <a:ext cx="504749" cy="9144"/>
          </a:xfrm>
          <a:prstGeom prst="line">
            <a:avLst/>
          </a:prstGeom>
          <a:noFill/>
          <a:ln w="190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85"/>
          <p:cNvSpPr/>
          <p:nvPr/>
        </p:nvSpPr>
        <p:spPr>
          <a:xfrm>
            <a:off x="685800" y="545896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Retention loop: unmatched profiles are re-queried against new trials.</a:t>
            </a:r>
            <a:endParaRPr lang="en-US" sz="900"/>
          </a:p>
        </p:txBody>
      </p:sp>
      <p:pic>
        <p:nvPicPr>
          <p:cNvPr id="102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5961888"/>
            <a:ext cx="237744" cy="237744"/>
          </a:xfrm>
          <a:prstGeom prst="rect">
            <a:avLst/>
          </a:prstGeom>
        </p:spPr>
      </p:pic>
      <p:sp>
        <p:nvSpPr>
          <p:cNvPr id="103" name="Text 86"/>
          <p:cNvSpPr/>
          <p:nvPr/>
        </p:nvSpPr>
        <p:spPr>
          <a:xfrm>
            <a:off x="960120" y="5916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actions</a:t>
            </a:r>
            <a:endParaRPr lang="en-US" sz="1000"/>
          </a:p>
        </p:txBody>
      </p:sp>
      <p:pic>
        <p:nvPicPr>
          <p:cNvPr id="104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5961888"/>
            <a:ext cx="237744" cy="237744"/>
          </a:xfrm>
          <a:prstGeom prst="rect">
            <a:avLst/>
          </a:prstGeom>
        </p:spPr>
      </p:pic>
      <p:sp>
        <p:nvSpPr>
          <p:cNvPr id="105" name="Text 87"/>
          <p:cNvSpPr/>
          <p:nvPr/>
        </p:nvSpPr>
        <p:spPr>
          <a:xfrm>
            <a:off x="3749040" y="5916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use: browser + API</a:t>
            </a:r>
            <a:endParaRPr lang="en-US" sz="1000"/>
          </a:p>
        </p:txBody>
      </p:sp>
      <p:pic>
        <p:nvPicPr>
          <p:cNvPr id="106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7920" y="5961888"/>
            <a:ext cx="237744" cy="237744"/>
          </a:xfrm>
          <a:prstGeom prst="rect">
            <a:avLst/>
          </a:prstGeom>
        </p:spPr>
      </p:pic>
      <p:sp>
        <p:nvSpPr>
          <p:cNvPr id="107" name="Text 88"/>
          <p:cNvSpPr/>
          <p:nvPr/>
        </p:nvSpPr>
        <p:spPr>
          <a:xfrm>
            <a:off x="6537960" y="5916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decision-making</a:t>
            </a:r>
            <a:endParaRPr lang="en-US" sz="1000"/>
          </a:p>
        </p:txBody>
      </p:sp>
      <p:pic>
        <p:nvPicPr>
          <p:cNvPr id="108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6840" y="5961888"/>
            <a:ext cx="237744" cy="237744"/>
          </a:xfrm>
          <a:prstGeom prst="rect">
            <a:avLst/>
          </a:prstGeom>
        </p:spPr>
      </p:pic>
      <p:sp>
        <p:nvSpPr>
          <p:cNvPr id="109" name="Text 89"/>
          <p:cNvSpPr/>
          <p:nvPr/>
        </p:nvSpPr>
        <p:spPr>
          <a:xfrm>
            <a:off x="9326880" y="591616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verifiable outputs</a:t>
            </a:r>
            <a:endParaRPr lang="en-US" sz="1000"/>
          </a:p>
        </p:txBody>
      </p:sp>
      <p:sp>
        <p:nvSpPr>
          <p:cNvPr id="110" name="Shape 90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9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112" name="Text 92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5 / 6</a:t>
            </a:r>
            <a:endParaRPr lang="en-US" sz="90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4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9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2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5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6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8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9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2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4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5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8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1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7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9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0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2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3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5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6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8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2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5" dur="4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8" dur="4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4" dur="4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0" dur="4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1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3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4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6" dur="4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9" dur="4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0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2" dur="4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3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5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8" dur="4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9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4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2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4" dur="4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5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0" dur="4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1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3" dur="4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6" dur="4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7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9" dur="4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0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2" dur="4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3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5" dur="4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8" dur="4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9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2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4" dur="4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5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7" dur="4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0" dur="4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1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3" dur="4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6" dur="40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7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9" dur="40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0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2" dur="40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3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5" dur="4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8" dur="40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9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4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2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4" dur="400"/>
                                  <p:tgtEl>
                                    <p:spTgt spid="7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5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0" dur="40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1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3" dur="40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6" dur="400"/>
                                  <p:tgtEl>
                                    <p:spTgt spid="7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7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9" dur="4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0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2" dur="40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3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5" dur="400"/>
                                  <p:tgtEl>
                                    <p:spTgt spid="8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8" dur="40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9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0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2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4" dur="400"/>
                                  <p:tgtEl>
                                    <p:spTgt spid="8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5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8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0" dur="400"/>
                                  <p:tgtEl>
                                    <p:spTgt spid="8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1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3" dur="400"/>
                                  <p:tgtEl>
                                    <p:spTgt spid="8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4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6" dur="400"/>
                                  <p:tgtEl>
                                    <p:spTgt spid="8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7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9" dur="400"/>
                                  <p:tgtEl>
                                    <p:spTgt spid="8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0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2" dur="400"/>
                                  <p:tgtEl>
                                    <p:spTgt spid="9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3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5" dur="4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6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8" dur="400"/>
                                  <p:tgtEl>
                                    <p:spTgt spid="9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9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400"/>
                                  <p:tgtEl>
                                    <p:spTgt spid="9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2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4" dur="400"/>
                                  <p:tgtEl>
                                    <p:spTgt spid="9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5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7" dur="400"/>
                                  <p:tgtEl>
                                    <p:spTgt spid="9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8" presetID="10" presetClass="entr" presetSubtype="0" fill="hold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0" dur="400"/>
                                  <p:tgtEl>
                                    <p:spTgt spid="9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1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3" dur="400"/>
                                  <p:tgtEl>
                                    <p:spTgt spid="9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4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6" dur="400"/>
                                  <p:tgtEl>
                                    <p:spTgt spid="9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7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9" dur="400"/>
                                  <p:tgtEl>
                                    <p:spTgt spid="9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0" presetID="10" presetClass="entr" presetSubtype="0" fill="hold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2" dur="400"/>
                                  <p:tgtEl>
                                    <p:spTgt spid="10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6" dur="400"/>
                                  <p:tgtEl>
                                    <p:spTgt spid="1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9" dur="400"/>
                                  <p:tgtEl>
                                    <p:spTgt spid="10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3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2" dur="400"/>
                                  <p:tgtEl>
                                    <p:spTgt spid="10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3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5" dur="400"/>
                                  <p:tgtEl>
                                    <p:spTgt spid="10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6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8" dur="400"/>
                                  <p:tgtEl>
                                    <p:spTgt spid="10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1" dur="400"/>
                                  <p:tgtEl>
                                    <p:spTgt spid="10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4" dur="400"/>
                                  <p:tgtEl>
                                    <p:spTgt spid="10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5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10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8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3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0" dur="400"/>
                                  <p:tgtEl>
                                    <p:spTgt spid="1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profile → 13 matching trials in 185 seconds.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happen in real time. Then judge the results.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05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05200" cy="73152"/>
          </a:xfrm>
          <a:prstGeom prst="rect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295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•  INPUT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777240" cy="777240"/>
          </a:xfrm>
          <a:prstGeom prst="ellipse">
            <a:avLst/>
          </a:prstGeom>
          <a:solidFill>
            <a:srgbClr val="7C6AE0"/>
          </a:solidFill>
          <a:ln w="12700">
            <a:solidFill>
              <a:srgbClr val="7C6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54203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23774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800"/>
          </a:p>
        </p:txBody>
      </p:sp>
      <p:sp>
        <p:nvSpPr>
          <p:cNvPr id="12" name="Text 9"/>
          <p:cNvSpPr/>
          <p:nvPr/>
        </p:nvSpPr>
        <p:spPr>
          <a:xfrm>
            <a:off x="1737360" y="278892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or structured form</a:t>
            </a:r>
            <a:endParaRPr lang="en-US" sz="11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8328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3337560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(PDF)</a:t>
            </a:r>
            <a:endParaRPr lang="en-US" sz="11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7588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630168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manual structured input</a:t>
            </a:r>
            <a:endParaRPr lang="en-US" sz="11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6849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922776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Condition, stage, location</a:t>
            </a:r>
            <a:endParaRPr lang="en-US" sz="1100"/>
          </a:p>
        </p:txBody>
      </p:sp>
      <p:sp>
        <p:nvSpPr>
          <p:cNvPr id="19" name="Shape 13"/>
          <p:cNvSpPr/>
          <p:nvPr/>
        </p:nvSpPr>
        <p:spPr>
          <a:xfrm>
            <a:off x="822960" y="4297680"/>
            <a:ext cx="2956560" cy="384048"/>
          </a:xfrm>
          <a:prstGeom prst="rect">
            <a:avLst/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914400" y="4297680"/>
            <a:ext cx="277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7C6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</a:t>
            </a: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 •  Stage II  •  HER2+</a:t>
            </a:r>
            <a:endParaRPr lang="en-US" sz="1000"/>
          </a:p>
        </p:txBody>
      </p:sp>
      <p:sp>
        <p:nvSpPr>
          <p:cNvPr id="21" name="Shape 15"/>
          <p:cNvSpPr/>
          <p:nvPr/>
        </p:nvSpPr>
        <p:spPr>
          <a:xfrm rot="5400000">
            <a:off x="4126992" y="3264408"/>
            <a:ext cx="128016" cy="18288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328160" y="1874520"/>
            <a:ext cx="3505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328160" y="1874520"/>
            <a:ext cx="3505200" cy="7315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602480" y="2075688"/>
            <a:ext cx="295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•  AGENTS</a:t>
            </a:r>
            <a:endParaRPr lang="en-US" sz="900"/>
          </a:p>
        </p:txBody>
      </p:sp>
      <p:sp>
        <p:nvSpPr>
          <p:cNvPr id="25" name="Shape 19"/>
          <p:cNvSpPr/>
          <p:nvPr/>
        </p:nvSpPr>
        <p:spPr>
          <a:xfrm>
            <a:off x="4602480" y="2377440"/>
            <a:ext cx="777240" cy="77724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072" y="254203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16880" y="23774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 + filter</a:t>
            </a:r>
            <a:endParaRPr lang="en-US" sz="1800"/>
          </a:p>
        </p:txBody>
      </p:sp>
      <p:sp>
        <p:nvSpPr>
          <p:cNvPr id="28" name="Text 21"/>
          <p:cNvSpPr/>
          <p:nvPr/>
        </p:nvSpPr>
        <p:spPr>
          <a:xfrm>
            <a:off x="5516880" y="278892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agents + APIs at once</a:t>
            </a:r>
            <a:endParaRPr lang="en-US" sz="110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383280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876800" y="3337560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 in parallel</a:t>
            </a:r>
            <a:endParaRPr lang="en-US" sz="110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675888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76800" y="3630168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filtering</a:t>
            </a:r>
            <a:endParaRPr lang="en-US" sz="110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968496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876800" y="3922776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summarization per trial</a:t>
            </a:r>
            <a:endParaRPr lang="en-US" sz="1100"/>
          </a:p>
        </p:txBody>
      </p:sp>
      <p:sp>
        <p:nvSpPr>
          <p:cNvPr id="35" name="Shape 25"/>
          <p:cNvSpPr/>
          <p:nvPr/>
        </p:nvSpPr>
        <p:spPr>
          <a:xfrm>
            <a:off x="4602480" y="4297680"/>
            <a:ext cx="2956560" cy="384048"/>
          </a:xfrm>
          <a:prstGeom prst="rect">
            <a:avLst/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6"/>
          <p:cNvSpPr/>
          <p:nvPr/>
        </p:nvSpPr>
        <p:spPr>
          <a:xfrm>
            <a:off x="4693920" y="4297680"/>
            <a:ext cx="277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</a:t>
            </a: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sources queried in parallel</a:t>
            </a:r>
            <a:endParaRPr lang="en-US" sz="1000"/>
          </a:p>
        </p:txBody>
      </p:sp>
      <p:sp>
        <p:nvSpPr>
          <p:cNvPr id="37" name="Shape 27"/>
          <p:cNvSpPr/>
          <p:nvPr/>
        </p:nvSpPr>
        <p:spPr>
          <a:xfrm rot="5400000">
            <a:off x="7906512" y="3264408"/>
            <a:ext cx="128016" cy="182880"/>
          </a:xfrm>
          <a:prstGeom prst="rtTriangl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8107680" y="1874520"/>
            <a:ext cx="3505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03200" dist="38100" dir="5400000" algn="bl" rotWithShape="0">
              <a:srgbClr val="0B1F3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8107680" y="1874520"/>
            <a:ext cx="35052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/>
          <p:nvPr/>
        </p:nvSpPr>
        <p:spPr>
          <a:xfrm>
            <a:off x="8382000" y="2075688"/>
            <a:ext cx="295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•  OUTPUT</a:t>
            </a:r>
            <a:endParaRPr lang="en-US" sz="900"/>
          </a:p>
        </p:txBody>
      </p:sp>
      <p:sp>
        <p:nvSpPr>
          <p:cNvPr id="41" name="Shape 31"/>
          <p:cNvSpPr/>
          <p:nvPr/>
        </p:nvSpPr>
        <p:spPr>
          <a:xfrm>
            <a:off x="8382000" y="2377440"/>
            <a:ext cx="777240" cy="7772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592" y="2542032"/>
            <a:ext cx="457200" cy="4572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296400" y="23774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matches</a:t>
            </a:r>
            <a:endParaRPr lang="en-US" sz="1800"/>
          </a:p>
        </p:txBody>
      </p:sp>
      <p:sp>
        <p:nvSpPr>
          <p:cNvPr id="44" name="Text 33"/>
          <p:cNvSpPr/>
          <p:nvPr/>
        </p:nvSpPr>
        <p:spPr>
          <a:xfrm>
            <a:off x="9296400" y="278892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match score first</a:t>
            </a:r>
            <a:endParaRPr lang="en-US" sz="110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720" y="3383280"/>
            <a:ext cx="164592" cy="16459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656320" y="3337560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summaries</a:t>
            </a:r>
            <a:endParaRPr lang="en-US" sz="110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720" y="3675888"/>
            <a:ext cx="164592" cy="16459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8656320" y="3630168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application paths</a:t>
            </a:r>
            <a:endParaRPr lang="en-US" sz="110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720" y="3968496"/>
            <a:ext cx="164592" cy="164592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8656320" y="3922776"/>
            <a:ext cx="272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links for verification</a:t>
            </a:r>
            <a:endParaRPr lang="en-US" sz="1100"/>
          </a:p>
        </p:txBody>
      </p:sp>
      <p:sp>
        <p:nvSpPr>
          <p:cNvPr id="51" name="Shape 37"/>
          <p:cNvSpPr/>
          <p:nvPr/>
        </p:nvSpPr>
        <p:spPr>
          <a:xfrm>
            <a:off x="8382000" y="4297680"/>
            <a:ext cx="2956560" cy="384048"/>
          </a:xfrm>
          <a:prstGeom prst="rect">
            <a:avLst/>
          </a:prstGeom>
          <a:solidFill>
            <a:srgbClr val="F6F8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38"/>
          <p:cNvSpPr/>
          <p:nvPr/>
        </p:nvSpPr>
        <p:spPr>
          <a:xfrm>
            <a:off x="8473440" y="4297680"/>
            <a:ext cx="277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</a:t>
            </a: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matches returned in 185s</a:t>
            </a:r>
            <a:endParaRPr lang="en-US" sz="1000"/>
          </a:p>
        </p:txBody>
      </p:sp>
      <p:sp>
        <p:nvSpPr>
          <p:cNvPr id="53" name="Shape 39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0"/>
          <p:cNvSpPr/>
          <p:nvPr/>
        </p:nvSpPr>
        <p:spPr>
          <a:xfrm>
            <a:off x="822960" y="5138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000"/>
          </a:p>
        </p:txBody>
      </p:sp>
      <p:sp>
        <p:nvSpPr>
          <p:cNvPr id="55" name="Shape 41"/>
          <p:cNvSpPr/>
          <p:nvPr/>
        </p:nvSpPr>
        <p:spPr>
          <a:xfrm>
            <a:off x="3566160" y="5230368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5330952"/>
            <a:ext cx="256032" cy="256032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4114800" y="5166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patient access</a:t>
            </a:r>
            <a:endParaRPr lang="en-US" sz="1250"/>
          </a:p>
        </p:txBody>
      </p:sp>
      <p:sp>
        <p:nvSpPr>
          <p:cNvPr id="58" name="Text 43"/>
          <p:cNvSpPr/>
          <p:nvPr/>
        </p:nvSpPr>
        <p:spPr>
          <a:xfrm>
            <a:off x="4114800" y="5458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found that today's tools miss</a:t>
            </a:r>
            <a:endParaRPr lang="en-US" sz="1000"/>
          </a:p>
        </p:txBody>
      </p:sp>
      <p:sp>
        <p:nvSpPr>
          <p:cNvPr id="59" name="Shape 44"/>
          <p:cNvSpPr/>
          <p:nvPr/>
        </p:nvSpPr>
        <p:spPr>
          <a:xfrm>
            <a:off x="6309360" y="5230368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5330952"/>
            <a:ext cx="256032" cy="256032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6858000" y="5166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clinic enrollment</a:t>
            </a:r>
            <a:endParaRPr lang="en-US" sz="1250"/>
          </a:p>
        </p:txBody>
      </p:sp>
      <p:sp>
        <p:nvSpPr>
          <p:cNvPr id="62" name="Text 46"/>
          <p:cNvSpPr/>
          <p:nvPr/>
        </p:nvSpPr>
        <p:spPr>
          <a:xfrm>
            <a:off x="6858000" y="5458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agent time, not months</a:t>
            </a:r>
            <a:endParaRPr lang="en-US" sz="1000"/>
          </a:p>
        </p:txBody>
      </p:sp>
      <p:sp>
        <p:nvSpPr>
          <p:cNvPr id="63" name="Shape 47"/>
          <p:cNvSpPr/>
          <p:nvPr/>
        </p:nvSpPr>
        <p:spPr>
          <a:xfrm>
            <a:off x="9052560" y="5230368"/>
            <a:ext cx="457200" cy="45720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144" y="5330952"/>
            <a:ext cx="256032" cy="256032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9601200" y="5166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search coverage</a:t>
            </a:r>
            <a:endParaRPr lang="en-US" sz="1250"/>
          </a:p>
        </p:txBody>
      </p:sp>
      <p:sp>
        <p:nvSpPr>
          <p:cNvPr id="66" name="Text 49"/>
          <p:cNvSpPr/>
          <p:nvPr/>
        </p:nvSpPr>
        <p:spPr>
          <a:xfrm>
            <a:off x="9601200" y="5458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site, not just one database</a:t>
            </a:r>
            <a:endParaRPr lang="en-US" sz="1000"/>
          </a:p>
        </p:txBody>
      </p:sp>
      <p:sp>
        <p:nvSpPr>
          <p:cNvPr id="67" name="Text 5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14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connecting willing patients to life-changing trials.  </a:t>
            </a:r>
            <a:r>
              <a:rPr lang="en-US" sz="1400" b="1" i="1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38.</a:t>
            </a:r>
            <a:endParaRPr lang="en-US" sz="1400"/>
          </a:p>
        </p:txBody>
      </p:sp>
      <p:sp>
        <p:nvSpPr>
          <p:cNvPr id="68" name="Shape 51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70" name="Text 53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6 / 6</a:t>
            </a:r>
            <a:endParaRPr lang="en-US" sz="90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nodeType="withEffect">
                            <p:stCondLst>
                              <p:cond delay="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6" presetID="10" presetClass="entr" presetSubtype="0" fill="hold" nodeType="withEffect">
                            <p:stCondLst>
                              <p:cond delay="50"/>
                            </p:stCondLst>
                            <p:childTnLs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9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2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1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4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7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9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2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5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8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4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5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8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0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5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5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5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9" dur="5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5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8" dur="5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5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0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3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5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10" presetClass="entr" presetSubtype="0" fill="hold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3" dur="5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4" presetID="10" presetClass="entr" presetSubtype="0" fill="hold" nodeType="withEffect">
                            <p:stCondLst>
                              <p:cond delay="50"/>
                            </p:stCondLst>
                            <p:childTnLst>
                              <p:set>
                                <p:cBhvr>
                                  <p:cTn id="1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6" dur="5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7" presetID="10" presetClass="entr" presetSubtype="0" fill="hold" nodeType="with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9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0" presetID="10" presetClass="entr" presetSubtype="0" fill="hold" nodeType="with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2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3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5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6" presetID="10" presetClass="entr" presetSubtype="0" fill="hold" nodeType="with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8" dur="5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2" presetID="10" presetClass="entr" presetSubtype="0" fill="hold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4" dur="5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5" presetID="10" presetClass="entr" presetSubtype="0" fill="hold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7" dur="5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8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0" dur="5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1" presetID="10" presetClass="entr" presetSubtype="0" fill="hold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3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4" presetID="10" presetClass="entr" presetSubtype="0" fill="hold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6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7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9" dur="5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0" presetID="10" presetClass="entr" presetSubtype="0" fill="hold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2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2" dur="5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3" presetID="10" presetClass="entr" presetSubtype="0" fill="hold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5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411480"/>
            <a:ext cx="2897124" cy="29718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•  COMPETITIVE LANDSCAPE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useful — but trapped inside walled gardens.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is increasingly happening on hospital sites, regional registries, and pharma pages. Today's AI trial tools don't reach them.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966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96640" cy="86868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TrialGPT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Sinai</a:t>
            </a:r>
            <a:endParaRPr lang="en-US" sz="10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2724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3035808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1188720" y="3218688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only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777240" y="3493008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9417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602736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ACCESS</a:t>
            </a:r>
            <a:endParaRPr lang="en-US" sz="800"/>
          </a:p>
        </p:txBody>
      </p:sp>
      <p:sp>
        <p:nvSpPr>
          <p:cNvPr id="16" name="Text 12"/>
          <p:cNvSpPr/>
          <p:nvPr/>
        </p:nvSpPr>
        <p:spPr>
          <a:xfrm>
            <a:off x="1188720" y="3785616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public database</a:t>
            </a:r>
            <a:endParaRPr lang="en-US" sz="1150"/>
          </a:p>
        </p:txBody>
      </p:sp>
      <p:sp>
        <p:nvSpPr>
          <p:cNvPr id="17" name="Shape 13"/>
          <p:cNvSpPr/>
          <p:nvPr/>
        </p:nvSpPr>
        <p:spPr>
          <a:xfrm>
            <a:off x="777240" y="4059936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6110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4169664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00"/>
          </a:p>
        </p:txBody>
      </p:sp>
      <p:sp>
        <p:nvSpPr>
          <p:cNvPr id="20" name="Text 15"/>
          <p:cNvSpPr/>
          <p:nvPr/>
        </p:nvSpPr>
        <p:spPr>
          <a:xfrm>
            <a:off x="1188720" y="4352544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over one dataset</a:t>
            </a:r>
            <a:endParaRPr lang="en-US" sz="1150"/>
          </a:p>
        </p:txBody>
      </p:sp>
      <p:sp>
        <p:nvSpPr>
          <p:cNvPr id="21" name="Shape 16"/>
          <p:cNvSpPr/>
          <p:nvPr/>
        </p:nvSpPr>
        <p:spPr>
          <a:xfrm>
            <a:off x="777240" y="4626864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82803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4736592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OFF-PLATFORM REACH</a:t>
            </a:r>
            <a:endParaRPr lang="en-US" sz="800"/>
          </a:p>
        </p:txBody>
      </p:sp>
      <p:sp>
        <p:nvSpPr>
          <p:cNvPr id="24" name="Text 18"/>
          <p:cNvSpPr/>
          <p:nvPr/>
        </p:nvSpPr>
        <p:spPr>
          <a:xfrm>
            <a:off x="1188720" y="4919472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/>
          </a:p>
        </p:txBody>
      </p:sp>
      <p:sp>
        <p:nvSpPr>
          <p:cNvPr id="25" name="Shape 19"/>
          <p:cNvSpPr/>
          <p:nvPr/>
        </p:nvSpPr>
        <p:spPr>
          <a:xfrm>
            <a:off x="777240" y="5193792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39496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5303520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800"/>
          </a:p>
        </p:txBody>
      </p:sp>
      <p:sp>
        <p:nvSpPr>
          <p:cNvPr id="28" name="Text 21"/>
          <p:cNvSpPr/>
          <p:nvPr/>
        </p:nvSpPr>
        <p:spPr>
          <a:xfrm>
            <a:off x="1188720" y="5486400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but reliable</a:t>
            </a:r>
            <a:endParaRPr lang="en-US" sz="1150"/>
          </a:p>
        </p:txBody>
      </p:sp>
      <p:sp>
        <p:nvSpPr>
          <p:cNvPr id="29" name="Shape 22"/>
          <p:cNvSpPr/>
          <p:nvPr/>
        </p:nvSpPr>
        <p:spPr>
          <a:xfrm>
            <a:off x="4282440" y="1965960"/>
            <a:ext cx="35966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25400" dir="5400000" algn="bl" rotWithShape="0">
              <a:srgbClr val="0B1F3A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282440" y="1965960"/>
            <a:ext cx="3596640" cy="86868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511040" y="210312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Triomics OncoLLM</a:t>
            </a:r>
            <a:endParaRPr lang="en-US" sz="1800"/>
          </a:p>
        </p:txBody>
      </p:sp>
      <p:sp>
        <p:nvSpPr>
          <p:cNvPr id="32" name="Text 25"/>
          <p:cNvSpPr/>
          <p:nvPr/>
        </p:nvSpPr>
        <p:spPr>
          <a:xfrm>
            <a:off x="4511040" y="2468880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network</a:t>
            </a:r>
            <a:endParaRPr lang="en-US" sz="100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312724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22520" y="3035808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/>
          </a:p>
        </p:txBody>
      </p:sp>
      <p:sp>
        <p:nvSpPr>
          <p:cNvPr id="35" name="Text 27"/>
          <p:cNvSpPr/>
          <p:nvPr/>
        </p:nvSpPr>
        <p:spPr>
          <a:xfrm>
            <a:off x="4922520" y="3218688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partners only</a:t>
            </a:r>
            <a:endParaRPr lang="en-US" sz="1150"/>
          </a:p>
        </p:txBody>
      </p:sp>
      <p:sp>
        <p:nvSpPr>
          <p:cNvPr id="36" name="Shape 28"/>
          <p:cNvSpPr/>
          <p:nvPr/>
        </p:nvSpPr>
        <p:spPr>
          <a:xfrm>
            <a:off x="4511040" y="3493008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760" y="3694176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22520" y="3602736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ACCESS</a:t>
            </a:r>
            <a:endParaRPr lang="en-US" sz="800"/>
          </a:p>
        </p:txBody>
      </p:sp>
      <p:sp>
        <p:nvSpPr>
          <p:cNvPr id="39" name="Text 30"/>
          <p:cNvSpPr/>
          <p:nvPr/>
        </p:nvSpPr>
        <p:spPr>
          <a:xfrm>
            <a:off x="4922520" y="3785616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partner DBs</a:t>
            </a:r>
            <a:endParaRPr lang="en-US" sz="1150"/>
          </a:p>
        </p:txBody>
      </p:sp>
      <p:sp>
        <p:nvSpPr>
          <p:cNvPr id="40" name="Shape 31"/>
          <p:cNvSpPr/>
          <p:nvPr/>
        </p:nvSpPr>
        <p:spPr>
          <a:xfrm>
            <a:off x="4511040" y="4059936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760" y="4261104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922520" y="4169664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00"/>
          </a:p>
        </p:txBody>
      </p:sp>
      <p:sp>
        <p:nvSpPr>
          <p:cNvPr id="43" name="Text 33"/>
          <p:cNvSpPr/>
          <p:nvPr/>
        </p:nvSpPr>
        <p:spPr>
          <a:xfrm>
            <a:off x="4922520" y="4352544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onco-LLM</a:t>
            </a:r>
            <a:endParaRPr lang="en-US" sz="1150"/>
          </a:p>
        </p:txBody>
      </p:sp>
      <p:sp>
        <p:nvSpPr>
          <p:cNvPr id="44" name="Shape 34"/>
          <p:cNvSpPr/>
          <p:nvPr/>
        </p:nvSpPr>
        <p:spPr>
          <a:xfrm>
            <a:off x="4511040" y="4626864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760" y="4828032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922520" y="4736592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OFF-PLATFORM REACH</a:t>
            </a:r>
            <a:endParaRPr lang="en-US" sz="800"/>
          </a:p>
        </p:txBody>
      </p:sp>
      <p:sp>
        <p:nvSpPr>
          <p:cNvPr id="47" name="Text 36"/>
          <p:cNvSpPr/>
          <p:nvPr/>
        </p:nvSpPr>
        <p:spPr>
          <a:xfrm>
            <a:off x="4922520" y="4919472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partners</a:t>
            </a:r>
            <a:endParaRPr lang="en-US" sz="1150"/>
          </a:p>
        </p:txBody>
      </p:sp>
      <p:sp>
        <p:nvSpPr>
          <p:cNvPr id="48" name="Shape 37"/>
          <p:cNvSpPr/>
          <p:nvPr/>
        </p:nvSpPr>
        <p:spPr>
          <a:xfrm>
            <a:off x="4511040" y="5193792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760" y="5394960"/>
            <a:ext cx="237744" cy="237744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4922520" y="5303520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800"/>
          </a:p>
        </p:txBody>
      </p:sp>
      <p:sp>
        <p:nvSpPr>
          <p:cNvPr id="51" name="Text 39"/>
          <p:cNvSpPr/>
          <p:nvPr/>
        </p:nvSpPr>
        <p:spPr>
          <a:xfrm>
            <a:off x="4922520" y="5486400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but gated</a:t>
            </a:r>
            <a:endParaRPr lang="en-US" sz="1150"/>
          </a:p>
        </p:txBody>
      </p:sp>
      <p:sp>
        <p:nvSpPr>
          <p:cNvPr id="52" name="Shape 40"/>
          <p:cNvSpPr/>
          <p:nvPr/>
        </p:nvSpPr>
        <p:spPr>
          <a:xfrm>
            <a:off x="8016240" y="1965960"/>
            <a:ext cx="3596640" cy="3886200"/>
          </a:xfrm>
          <a:prstGeom prst="rect">
            <a:avLst/>
          </a:prstGeom>
          <a:solidFill>
            <a:srgbClr val="FFFFFF"/>
          </a:solidFill>
          <a:ln w="22225">
            <a:solidFill>
              <a:srgbClr val="0EA5A4"/>
            </a:solidFill>
            <a:prstDash val="solid"/>
          </a:ln>
          <a:effectLst>
            <a:outerShdw blurRad="279400" dist="50800" dir="5400000" algn="bl" rotWithShape="0">
              <a:srgbClr val="0EA5A4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1"/>
          <p:cNvSpPr/>
          <p:nvPr/>
        </p:nvSpPr>
        <p:spPr>
          <a:xfrm>
            <a:off x="8016240" y="1965960"/>
            <a:ext cx="35966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2"/>
          <p:cNvSpPr/>
          <p:nvPr/>
        </p:nvSpPr>
        <p:spPr>
          <a:xfrm>
            <a:off x="8244840" y="2103120"/>
            <a:ext cx="313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endParaRPr lang="en-US" sz="1800"/>
          </a:p>
        </p:txBody>
      </p:sp>
      <p:sp>
        <p:nvSpPr>
          <p:cNvPr id="55" name="Text 43"/>
          <p:cNvSpPr/>
          <p:nvPr/>
        </p:nvSpPr>
        <p:spPr>
          <a:xfrm>
            <a:off x="8244840" y="2468880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38</a:t>
            </a:r>
            <a:endParaRPr lang="en-US" sz="1000"/>
          </a:p>
        </p:txBody>
      </p:sp>
      <p:sp>
        <p:nvSpPr>
          <p:cNvPr id="56" name="Shape 44"/>
          <p:cNvSpPr/>
          <p:nvPr/>
        </p:nvSpPr>
        <p:spPr>
          <a:xfrm>
            <a:off x="10652760" y="2221992"/>
            <a:ext cx="749808" cy="320040"/>
          </a:xfrm>
          <a:prstGeom prst="roundRect">
            <a:avLst>
              <a:gd name="adj" fmla="val 48571"/>
            </a:avLst>
          </a:prstGeom>
          <a:solidFill>
            <a:srgbClr val="0EA5A4"/>
          </a:solidFill>
          <a:ln w="9525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/>
          <p:nvPr/>
        </p:nvSpPr>
        <p:spPr>
          <a:xfrm>
            <a:off x="10652760" y="2221992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80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3127248"/>
            <a:ext cx="237744" cy="237744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656320" y="3035808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/>
          </a:p>
        </p:txBody>
      </p:sp>
      <p:sp>
        <p:nvSpPr>
          <p:cNvPr id="60" name="Text 47"/>
          <p:cNvSpPr/>
          <p:nvPr/>
        </p:nvSpPr>
        <p:spPr>
          <a:xfrm>
            <a:off x="8656320" y="3218688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site on the web</a:t>
            </a:r>
            <a:endParaRPr lang="en-US" sz="1150"/>
          </a:p>
        </p:txBody>
      </p:sp>
      <p:sp>
        <p:nvSpPr>
          <p:cNvPr id="61" name="Shape 48"/>
          <p:cNvSpPr/>
          <p:nvPr/>
        </p:nvSpPr>
        <p:spPr>
          <a:xfrm>
            <a:off x="8244840" y="3493008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560" y="3694176"/>
            <a:ext cx="237744" cy="237744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8656320" y="3602736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ACCESS</a:t>
            </a:r>
            <a:endParaRPr lang="en-US" sz="800"/>
          </a:p>
        </p:txBody>
      </p:sp>
      <p:sp>
        <p:nvSpPr>
          <p:cNvPr id="64" name="Text 50"/>
          <p:cNvSpPr/>
          <p:nvPr/>
        </p:nvSpPr>
        <p:spPr>
          <a:xfrm>
            <a:off x="8656320" y="3785616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+ browser agents</a:t>
            </a:r>
            <a:endParaRPr lang="en-US" sz="1150"/>
          </a:p>
        </p:txBody>
      </p:sp>
      <p:sp>
        <p:nvSpPr>
          <p:cNvPr id="65" name="Shape 51"/>
          <p:cNvSpPr/>
          <p:nvPr/>
        </p:nvSpPr>
        <p:spPr>
          <a:xfrm>
            <a:off x="8244840" y="4059936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0560" y="4261104"/>
            <a:ext cx="237744" cy="237744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8656320" y="4169664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00"/>
          </a:p>
        </p:txBody>
      </p:sp>
      <p:sp>
        <p:nvSpPr>
          <p:cNvPr id="68" name="Text 53"/>
          <p:cNvSpPr/>
          <p:nvPr/>
        </p:nvSpPr>
        <p:spPr>
          <a:xfrm>
            <a:off x="8656320" y="4352544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agentic workflow</a:t>
            </a:r>
            <a:endParaRPr lang="en-US" sz="1150"/>
          </a:p>
        </p:txBody>
      </p:sp>
      <p:sp>
        <p:nvSpPr>
          <p:cNvPr id="69" name="Shape 54"/>
          <p:cNvSpPr/>
          <p:nvPr/>
        </p:nvSpPr>
        <p:spPr>
          <a:xfrm>
            <a:off x="8244840" y="4626864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0560" y="4828032"/>
            <a:ext cx="237744" cy="237744"/>
          </a:xfrm>
          <a:prstGeom prst="rect">
            <a:avLst/>
          </a:prstGeom>
        </p:spPr>
      </p:pic>
      <p:sp>
        <p:nvSpPr>
          <p:cNvPr id="71" name="Text 55"/>
          <p:cNvSpPr/>
          <p:nvPr/>
        </p:nvSpPr>
        <p:spPr>
          <a:xfrm>
            <a:off x="8656320" y="4736592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OFF-PLATFORM REACH</a:t>
            </a:r>
            <a:endParaRPr lang="en-US" sz="800"/>
          </a:p>
        </p:txBody>
      </p:sp>
      <p:sp>
        <p:nvSpPr>
          <p:cNvPr id="72" name="Text 56"/>
          <p:cNvSpPr/>
          <p:nvPr/>
        </p:nvSpPr>
        <p:spPr>
          <a:xfrm>
            <a:off x="8656320" y="4919472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pharma, regional</a:t>
            </a:r>
            <a:endParaRPr lang="en-US" sz="1150"/>
          </a:p>
        </p:txBody>
      </p:sp>
      <p:sp>
        <p:nvSpPr>
          <p:cNvPr id="73" name="Shape 57"/>
          <p:cNvSpPr/>
          <p:nvPr/>
        </p:nvSpPr>
        <p:spPr>
          <a:xfrm>
            <a:off x="8244840" y="5193792"/>
            <a:ext cx="3139440" cy="914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0560" y="5394960"/>
            <a:ext cx="237744" cy="237744"/>
          </a:xfrm>
          <a:prstGeom prst="rect">
            <a:avLst/>
          </a:prstGeom>
        </p:spPr>
      </p:pic>
      <p:sp>
        <p:nvSpPr>
          <p:cNvPr id="75" name="Text 58"/>
          <p:cNvSpPr/>
          <p:nvPr/>
        </p:nvSpPr>
        <p:spPr>
          <a:xfrm>
            <a:off x="8656320" y="5303520"/>
            <a:ext cx="272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800"/>
          </a:p>
        </p:txBody>
      </p:sp>
      <p:sp>
        <p:nvSpPr>
          <p:cNvPr id="76" name="Text 59"/>
          <p:cNvSpPr/>
          <p:nvPr/>
        </p:nvSpPr>
        <p:spPr>
          <a:xfrm>
            <a:off x="8656320" y="5486400"/>
            <a:ext cx="272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— complements both</a:t>
            </a:r>
            <a:endParaRPr lang="en-US" sz="1150"/>
          </a:p>
        </p:txBody>
      </p:sp>
      <p:sp>
        <p:nvSpPr>
          <p:cNvPr id="77" name="Text 60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take: </a:t>
            </a:r>
            <a:r>
              <a:rPr lang="en-US" sz="1300" i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 important work inside their walls. </a:t>
            </a:r>
            <a:r>
              <a:rPr lang="en-US" sz="1300" b="1" i="1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 opens the doors.</a:t>
            </a:r>
            <a:endParaRPr lang="en-US" sz="1300"/>
          </a:p>
        </p:txBody>
      </p:sp>
      <p:sp>
        <p:nvSpPr>
          <p:cNvPr id="78" name="Shape 61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6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TrialFind</a:t>
            </a: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38   •   HealthTech</a:t>
            </a:r>
            <a:endParaRPr lang="en-US" sz="900"/>
          </a:p>
        </p:txBody>
      </p:sp>
      <p:sp>
        <p:nvSpPr>
          <p:cNvPr id="80" name="Text 63"/>
          <p:cNvSpPr/>
          <p:nvPr/>
        </p:nvSpPr>
        <p:spPr>
          <a:xfrm>
            <a:off x="79552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Summit 2026   •   APPENDIX</a:t>
            </a:r>
            <a:endParaRPr lang="en-US" sz="90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4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22" presetClass="entr" presetSubtype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4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0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9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2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5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8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2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4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5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3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4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6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7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9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0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2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3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5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presetID="22" presetClass="entr" presetSubtype="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9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0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2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3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5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6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8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9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2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4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5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8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0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1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3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4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6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7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9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0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2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3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5" dur="4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6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8" dur="4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9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2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4" dur="4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5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7" dur="4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8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0" dur="4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1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3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4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6" dur="4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7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9" dur="4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0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2" dur="4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3" presetID="22" presetClass="entr" presetSubtype="1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5" dur="4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5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5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5" dur="5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4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5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5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3" dur="5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6" dur="5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9" dur="50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2" dur="50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5" dur="50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8" dur="5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4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7" dur="50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0" dur="50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3" dur="50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6" dur="5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9" dur="50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2" dur="5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5" dur="500"/>
                                  <p:tgtEl>
                                    <p:spTgt spid="7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0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5" dur="40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8" dur="400"/>
                                  <p:tgtEl>
                                    <p:spTgt spid="7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4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4" dur="40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1395</Words>
  <Application>Microsoft Office PowerPoint</Application>
  <PresentationFormat>Widescreen</PresentationFormat>
  <Paragraphs>256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TrialFind — Team 38</dc:title>
  <dc:subject>PptxGenJS Presentation</dc:subject>
  <dc:creator>Team 38</dc:creator>
  <cp:lastModifiedBy>Adil Arya</cp:lastModifiedBy>
  <cp:revision>3</cp:revision>
  <dcterms:created xsi:type="dcterms:W3CDTF">2026-04-19T14:09:32Z</dcterms:created>
  <dcterms:modified xsi:type="dcterms:W3CDTF">2026-04-19T15:47:51Z</dcterms:modified>
</cp:coreProperties>
</file>